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6" r:id="rId15"/>
    <p:sldId id="274" r:id="rId16"/>
    <p:sldId id="275" r:id="rId17"/>
    <p:sldId id="273" r:id="rId18"/>
    <p:sldId id="270" r:id="rId19"/>
    <p:sldId id="272" r:id="rId20"/>
    <p:sldId id="271" r:id="rId21"/>
    <p:sldId id="264" r:id="rId22"/>
  </p:sldIdLst>
  <p:sldSz cx="18288000" cy="10287000"/>
  <p:notesSz cx="6858000" cy="9144000"/>
  <p:embeddedFontLst>
    <p:embeddedFont>
      <p:font typeface="Arimo" panose="020B0604020202020204" charset="0"/>
      <p:regular r:id="rId23"/>
    </p:embeddedFont>
    <p:embeddedFont>
      <p:font typeface="Arimo Bold" panose="020B0604020202020204" charset="0"/>
      <p:regular r:id="rId24"/>
    </p:embeddedFont>
    <p:embeddedFont>
      <p:font typeface="Poppins" panose="00000500000000000000" pitchFamily="2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226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hyperlink" Target="https://www.techsoup.org/?utm_source=chatgpt.com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gofundme.com/pt-pt?utm_source=chatgpt.com" TargetMode="External"/><Relationship Id="rId5" Type="http://schemas.openxmlformats.org/officeDocument/2006/relationships/hyperlink" Target="https://benfeitoria.com/?utm_source=chatgpt.com" TargetMode="External"/><Relationship Id="rId4" Type="http://schemas.openxmlformats.org/officeDocument/2006/relationships/hyperlink" Target="https://www.vakinha.com.br/?utm_source=chatgpt.com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-356270"/>
            <a:ext cx="16959665" cy="4010555"/>
            <a:chOff x="0" y="0"/>
            <a:chExt cx="22612887" cy="5347407"/>
          </a:xfrm>
        </p:grpSpPr>
        <p:sp>
          <p:nvSpPr>
            <p:cNvPr id="3" name="Freeform 3"/>
            <p:cNvSpPr/>
            <p:nvPr/>
          </p:nvSpPr>
          <p:spPr>
            <a:xfrm>
              <a:off x="0" y="1454329"/>
              <a:ext cx="10214657" cy="2438749"/>
            </a:xfrm>
            <a:custGeom>
              <a:avLst/>
              <a:gdLst/>
              <a:ahLst/>
              <a:cxnLst/>
              <a:rect l="l" t="t" r="r" b="b"/>
              <a:pathLst>
                <a:path w="10214657" h="2438749">
                  <a:moveTo>
                    <a:pt x="0" y="0"/>
                  </a:moveTo>
                  <a:lnTo>
                    <a:pt x="10214657" y="0"/>
                  </a:lnTo>
                  <a:lnTo>
                    <a:pt x="10214657" y="2438749"/>
                  </a:lnTo>
                  <a:lnTo>
                    <a:pt x="0" y="24387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Freeform 4"/>
            <p:cNvSpPr/>
            <p:nvPr/>
          </p:nvSpPr>
          <p:spPr>
            <a:xfrm>
              <a:off x="11268446" y="0"/>
              <a:ext cx="11344441" cy="5347407"/>
            </a:xfrm>
            <a:custGeom>
              <a:avLst/>
              <a:gdLst/>
              <a:ahLst/>
              <a:cxnLst/>
              <a:rect l="l" t="t" r="r" b="b"/>
              <a:pathLst>
                <a:path w="11344441" h="5347407">
                  <a:moveTo>
                    <a:pt x="0" y="0"/>
                  </a:moveTo>
                  <a:lnTo>
                    <a:pt x="11344441" y="0"/>
                  </a:lnTo>
                  <a:lnTo>
                    <a:pt x="11344441" y="5347407"/>
                  </a:lnTo>
                  <a:lnTo>
                    <a:pt x="0" y="53474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2669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5" name="Freeform 5"/>
          <p:cNvSpPr/>
          <p:nvPr/>
        </p:nvSpPr>
        <p:spPr>
          <a:xfrm>
            <a:off x="11518233" y="0"/>
            <a:ext cx="7315200" cy="2231136"/>
          </a:xfrm>
          <a:custGeom>
            <a:avLst/>
            <a:gdLst/>
            <a:ahLst/>
            <a:cxnLst/>
            <a:rect l="l" t="t" r="r" b="b"/>
            <a:pathLst>
              <a:path w="7315200" h="2231136">
                <a:moveTo>
                  <a:pt x="0" y="0"/>
                </a:moveTo>
                <a:lnTo>
                  <a:pt x="7315200" y="0"/>
                </a:lnTo>
                <a:lnTo>
                  <a:pt x="7315200" y="2231136"/>
                </a:lnTo>
                <a:lnTo>
                  <a:pt x="0" y="22311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Freeform 6"/>
          <p:cNvSpPr/>
          <p:nvPr/>
        </p:nvSpPr>
        <p:spPr>
          <a:xfrm rot="-10800000">
            <a:off x="0" y="8055864"/>
            <a:ext cx="7315200" cy="2231136"/>
          </a:xfrm>
          <a:custGeom>
            <a:avLst/>
            <a:gdLst/>
            <a:ahLst/>
            <a:cxnLst/>
            <a:rect l="l" t="t" r="r" b="b"/>
            <a:pathLst>
              <a:path w="7315200" h="2231136">
                <a:moveTo>
                  <a:pt x="0" y="0"/>
                </a:moveTo>
                <a:lnTo>
                  <a:pt x="7315200" y="0"/>
                </a:lnTo>
                <a:lnTo>
                  <a:pt x="7315200" y="2231136"/>
                </a:lnTo>
                <a:lnTo>
                  <a:pt x="0" y="22311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TextBox 7"/>
          <p:cNvSpPr txBox="1"/>
          <p:nvPr/>
        </p:nvSpPr>
        <p:spPr>
          <a:xfrm>
            <a:off x="5003302" y="4856415"/>
            <a:ext cx="8281396" cy="745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75"/>
              </a:lnSpc>
              <a:spcBef>
                <a:spcPct val="0"/>
              </a:spcBef>
            </a:pPr>
            <a:r>
              <a:rPr lang="en-US" sz="6017" b="1">
                <a:solidFill>
                  <a:srgbClr val="20211D"/>
                </a:solidFill>
                <a:latin typeface="Arimo Bold"/>
                <a:ea typeface="Arimo Bold"/>
                <a:cs typeface="Arimo Bold"/>
                <a:sym typeface="Arimo Bold"/>
              </a:rPr>
              <a:t>ADSgraça - ABOS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8315" y="7455321"/>
            <a:ext cx="17411370" cy="534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  <a:spcBef>
                <a:spcPct val="0"/>
              </a:spcBef>
            </a:pPr>
            <a:r>
              <a:rPr lang="en-US" sz="2946" spc="-109">
                <a:solidFill>
                  <a:srgbClr val="20211D"/>
                </a:solidFill>
                <a:latin typeface="Poppins"/>
                <a:ea typeface="Poppins"/>
                <a:cs typeface="Poppins"/>
                <a:sym typeface="Poppins"/>
              </a:rPr>
              <a:t>Alan Oliveira - Igor Rodrigues de Paula - Leonardo Medolago Teixeira - Miguel Oliveira Rocha Ribeiro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0" y="6908833"/>
            <a:ext cx="6621065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spc="-118">
                <a:solidFill>
                  <a:srgbClr val="20211D"/>
                </a:solidFill>
                <a:latin typeface="Arimo Bold"/>
                <a:ea typeface="Arimo Bold"/>
                <a:cs typeface="Arimo Bold"/>
                <a:sym typeface="Arimo Bold"/>
              </a:rPr>
              <a:t>Nome dos alunos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0" y="8085789"/>
            <a:ext cx="6621065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spc="-118">
                <a:solidFill>
                  <a:srgbClr val="20211D"/>
                </a:solidFill>
                <a:latin typeface="Arimo Bold"/>
                <a:ea typeface="Arimo Bold"/>
                <a:cs typeface="Arimo Bold"/>
                <a:sym typeface="Arimo Bold"/>
              </a:rPr>
              <a:t>Orientador(a)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37838" y="8723550"/>
            <a:ext cx="4107384" cy="534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  <a:spcBef>
                <a:spcPct val="0"/>
              </a:spcBef>
            </a:pPr>
            <a:r>
              <a:rPr lang="en-US" sz="2946" spc="-109">
                <a:solidFill>
                  <a:srgbClr val="20211D"/>
                </a:solidFill>
                <a:latin typeface="Poppins"/>
                <a:ea typeface="Poppins"/>
                <a:cs typeface="Poppins"/>
                <a:sym typeface="Poppins"/>
              </a:rPr>
              <a:t>Prof(a). Denilce Veloso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76215" y="8335870"/>
            <a:ext cx="1479340" cy="1479340"/>
          </a:xfrm>
          <a:custGeom>
            <a:avLst/>
            <a:gdLst/>
            <a:ahLst/>
            <a:cxnLst/>
            <a:rect l="l" t="t" r="r" b="b"/>
            <a:pathLst>
              <a:path w="1479340" h="1479340">
                <a:moveTo>
                  <a:pt x="0" y="0"/>
                </a:moveTo>
                <a:lnTo>
                  <a:pt x="1479340" y="0"/>
                </a:lnTo>
                <a:lnTo>
                  <a:pt x="1479340" y="1479340"/>
                </a:lnTo>
                <a:lnTo>
                  <a:pt x="0" y="1479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979768" y="1028700"/>
            <a:ext cx="102870" cy="8229600"/>
          </a:xfrm>
          <a:custGeom>
            <a:avLst/>
            <a:gdLst/>
            <a:ahLst/>
            <a:cxnLst/>
            <a:rect l="l" t="t" r="r" b="b"/>
            <a:pathLst>
              <a:path w="102870" h="8229600">
                <a:moveTo>
                  <a:pt x="0" y="0"/>
                </a:moveTo>
                <a:lnTo>
                  <a:pt x="102870" y="0"/>
                </a:lnTo>
                <a:lnTo>
                  <a:pt x="10287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4" name="Group 4"/>
          <p:cNvGrpSpPr/>
          <p:nvPr/>
        </p:nvGrpSpPr>
        <p:grpSpPr>
          <a:xfrm>
            <a:off x="1028700" y="1028700"/>
            <a:ext cx="16207237" cy="102870"/>
            <a:chOff x="0" y="0"/>
            <a:chExt cx="21609650" cy="137160"/>
          </a:xfrm>
        </p:grpSpPr>
        <p:sp>
          <p:nvSpPr>
            <p:cNvPr id="5" name="Freeform 5"/>
            <p:cNvSpPr/>
            <p:nvPr/>
          </p:nvSpPr>
          <p:spPr>
            <a:xfrm rot="-5400000">
              <a:off x="5417820" y="-5417820"/>
              <a:ext cx="137160" cy="10972800"/>
            </a:xfrm>
            <a:custGeom>
              <a:avLst/>
              <a:gdLst/>
              <a:ahLst/>
              <a:cxnLst/>
              <a:rect l="l" t="t" r="r" b="b"/>
              <a:pathLst>
                <a:path w="137160" h="10972800">
                  <a:moveTo>
                    <a:pt x="0" y="0"/>
                  </a:moveTo>
                  <a:lnTo>
                    <a:pt x="137160" y="0"/>
                  </a:lnTo>
                  <a:lnTo>
                    <a:pt x="13716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Freeform 6"/>
            <p:cNvSpPr/>
            <p:nvPr/>
          </p:nvSpPr>
          <p:spPr>
            <a:xfrm rot="-5400000">
              <a:off x="16054670" y="-5417820"/>
              <a:ext cx="137160" cy="10972800"/>
            </a:xfrm>
            <a:custGeom>
              <a:avLst/>
              <a:gdLst/>
              <a:ahLst/>
              <a:cxnLst/>
              <a:rect l="l" t="t" r="r" b="b"/>
              <a:pathLst>
                <a:path w="137160" h="10972800">
                  <a:moveTo>
                    <a:pt x="0" y="0"/>
                  </a:moveTo>
                  <a:lnTo>
                    <a:pt x="137160" y="0"/>
                  </a:lnTo>
                  <a:lnTo>
                    <a:pt x="13716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AutoShape 7"/>
          <p:cNvSpPr/>
          <p:nvPr/>
        </p:nvSpPr>
        <p:spPr>
          <a:xfrm flipV="1">
            <a:off x="17121639" y="1132023"/>
            <a:ext cx="57150" cy="7203847"/>
          </a:xfrm>
          <a:prstGeom prst="line">
            <a:avLst/>
          </a:prstGeom>
          <a:ln w="114300" cap="flat">
            <a:solidFill>
              <a:srgbClr val="0D58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8" name="AutoShape 8"/>
          <p:cNvSpPr/>
          <p:nvPr/>
        </p:nvSpPr>
        <p:spPr>
          <a:xfrm flipH="1">
            <a:off x="979768" y="9258300"/>
            <a:ext cx="15021164" cy="0"/>
          </a:xfrm>
          <a:prstGeom prst="line">
            <a:avLst/>
          </a:prstGeom>
          <a:ln w="114300" cap="flat">
            <a:solidFill>
              <a:srgbClr val="0D58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Box 9"/>
          <p:cNvSpPr txBox="1"/>
          <p:nvPr/>
        </p:nvSpPr>
        <p:spPr>
          <a:xfrm>
            <a:off x="6955011" y="1219200"/>
            <a:ext cx="4377977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spc="-11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Resumo do Negócio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18070" y="3105150"/>
            <a:ext cx="15733247" cy="4107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spc="-1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 ABOS (Associação Beneficente Oncológica de Sorocaba) é uma instituição sem fins lucrativos que oferece suporte a pacientes oncológicos carentes e suas famílias em Sorocaba, em mais de 50 municípios da região e até mesmo em outros estados. Fundamentada no trabalho voluntário, a associação conta com cerca de 10 funcionários fixos e aproximadamente 60 voluntários ativos, prestando assistência abrangente que inclui hospedagem de pacientes e acompanhantes vindos de fora da cidade, empréstimo de equipamentos hospitalares como cadeiras de rodas, cadeiras de banho, camas hospitalares, muletas e bengalas, além de apoio a crianças vinculadas ao GPACI (Grupo de Pesquisa e Apoio ao Câncer Infantil).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76215" y="8335870"/>
            <a:ext cx="1479340" cy="1479340"/>
          </a:xfrm>
          <a:custGeom>
            <a:avLst/>
            <a:gdLst/>
            <a:ahLst/>
            <a:cxnLst/>
            <a:rect l="l" t="t" r="r" b="b"/>
            <a:pathLst>
              <a:path w="1479340" h="1479340">
                <a:moveTo>
                  <a:pt x="0" y="0"/>
                </a:moveTo>
                <a:lnTo>
                  <a:pt x="1479340" y="0"/>
                </a:lnTo>
                <a:lnTo>
                  <a:pt x="1479340" y="1479340"/>
                </a:lnTo>
                <a:lnTo>
                  <a:pt x="0" y="1479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979768" y="1028700"/>
            <a:ext cx="102870" cy="8229600"/>
          </a:xfrm>
          <a:custGeom>
            <a:avLst/>
            <a:gdLst/>
            <a:ahLst/>
            <a:cxnLst/>
            <a:rect l="l" t="t" r="r" b="b"/>
            <a:pathLst>
              <a:path w="102870" h="8229600">
                <a:moveTo>
                  <a:pt x="0" y="0"/>
                </a:moveTo>
                <a:lnTo>
                  <a:pt x="102870" y="0"/>
                </a:lnTo>
                <a:lnTo>
                  <a:pt x="10287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4" name="Group 4"/>
          <p:cNvGrpSpPr/>
          <p:nvPr/>
        </p:nvGrpSpPr>
        <p:grpSpPr>
          <a:xfrm>
            <a:off x="1028700" y="1028700"/>
            <a:ext cx="16207237" cy="102870"/>
            <a:chOff x="0" y="0"/>
            <a:chExt cx="21609650" cy="137160"/>
          </a:xfrm>
        </p:grpSpPr>
        <p:sp>
          <p:nvSpPr>
            <p:cNvPr id="5" name="Freeform 5"/>
            <p:cNvSpPr/>
            <p:nvPr/>
          </p:nvSpPr>
          <p:spPr>
            <a:xfrm rot="-5400000">
              <a:off x="5417820" y="-5417820"/>
              <a:ext cx="137160" cy="10972800"/>
            </a:xfrm>
            <a:custGeom>
              <a:avLst/>
              <a:gdLst/>
              <a:ahLst/>
              <a:cxnLst/>
              <a:rect l="l" t="t" r="r" b="b"/>
              <a:pathLst>
                <a:path w="137160" h="10972800">
                  <a:moveTo>
                    <a:pt x="0" y="0"/>
                  </a:moveTo>
                  <a:lnTo>
                    <a:pt x="137160" y="0"/>
                  </a:lnTo>
                  <a:lnTo>
                    <a:pt x="13716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Freeform 6"/>
            <p:cNvSpPr/>
            <p:nvPr/>
          </p:nvSpPr>
          <p:spPr>
            <a:xfrm rot="-5400000">
              <a:off x="16054670" y="-5417820"/>
              <a:ext cx="137160" cy="10972800"/>
            </a:xfrm>
            <a:custGeom>
              <a:avLst/>
              <a:gdLst/>
              <a:ahLst/>
              <a:cxnLst/>
              <a:rect l="l" t="t" r="r" b="b"/>
              <a:pathLst>
                <a:path w="137160" h="10972800">
                  <a:moveTo>
                    <a:pt x="0" y="0"/>
                  </a:moveTo>
                  <a:lnTo>
                    <a:pt x="137160" y="0"/>
                  </a:lnTo>
                  <a:lnTo>
                    <a:pt x="13716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AutoShape 7"/>
          <p:cNvSpPr/>
          <p:nvPr/>
        </p:nvSpPr>
        <p:spPr>
          <a:xfrm flipV="1">
            <a:off x="17121639" y="1132023"/>
            <a:ext cx="57150" cy="7203847"/>
          </a:xfrm>
          <a:prstGeom prst="line">
            <a:avLst/>
          </a:prstGeom>
          <a:ln w="114300" cap="flat">
            <a:solidFill>
              <a:srgbClr val="0D58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8" name="AutoShape 8"/>
          <p:cNvSpPr/>
          <p:nvPr/>
        </p:nvSpPr>
        <p:spPr>
          <a:xfrm flipH="1">
            <a:off x="979768" y="9258300"/>
            <a:ext cx="15021164" cy="0"/>
          </a:xfrm>
          <a:prstGeom prst="line">
            <a:avLst/>
          </a:prstGeom>
          <a:ln w="114300" cap="flat">
            <a:solidFill>
              <a:srgbClr val="0D58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Box 9"/>
          <p:cNvSpPr txBox="1"/>
          <p:nvPr/>
        </p:nvSpPr>
        <p:spPr>
          <a:xfrm>
            <a:off x="7023659" y="1219200"/>
            <a:ext cx="4240683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spc="-11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Contexto e problema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09486" y="3105150"/>
            <a:ext cx="15728156" cy="359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spc="-1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 falta de sistematização, centralização e organização no controle das doações de alimentos da ABOS gera dificuldades no acompanhamento de quantidades, prazos de validade e distribuição, comprometendo a eficiência das operações. Isso pode causar desperdícios, atrasos nas entregas e problemas na geração de relatórios, impactando tanto os pacientes e suas famílias quanto a equipe da associação. Apesar desses desafios, a ABOS mantém seu compromisso de oferecer suporte e dignidade aos pacientes oncológicos, destacando a necessidade de aprimorar os processos internos para otimizar o atendimento.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76215" y="8335870"/>
            <a:ext cx="1479340" cy="1479340"/>
          </a:xfrm>
          <a:custGeom>
            <a:avLst/>
            <a:gdLst/>
            <a:ahLst/>
            <a:cxnLst/>
            <a:rect l="l" t="t" r="r" b="b"/>
            <a:pathLst>
              <a:path w="1479340" h="1479340">
                <a:moveTo>
                  <a:pt x="0" y="0"/>
                </a:moveTo>
                <a:lnTo>
                  <a:pt x="1479340" y="0"/>
                </a:lnTo>
                <a:lnTo>
                  <a:pt x="1479340" y="1479340"/>
                </a:lnTo>
                <a:lnTo>
                  <a:pt x="0" y="1479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979768" y="1028700"/>
            <a:ext cx="102870" cy="8229600"/>
          </a:xfrm>
          <a:custGeom>
            <a:avLst/>
            <a:gdLst/>
            <a:ahLst/>
            <a:cxnLst/>
            <a:rect l="l" t="t" r="r" b="b"/>
            <a:pathLst>
              <a:path w="102870" h="8229600">
                <a:moveTo>
                  <a:pt x="0" y="0"/>
                </a:moveTo>
                <a:lnTo>
                  <a:pt x="102870" y="0"/>
                </a:lnTo>
                <a:lnTo>
                  <a:pt x="10287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4" name="Group 4"/>
          <p:cNvGrpSpPr/>
          <p:nvPr/>
        </p:nvGrpSpPr>
        <p:grpSpPr>
          <a:xfrm>
            <a:off x="1028700" y="1028700"/>
            <a:ext cx="16207237" cy="102870"/>
            <a:chOff x="0" y="0"/>
            <a:chExt cx="21609650" cy="137160"/>
          </a:xfrm>
        </p:grpSpPr>
        <p:sp>
          <p:nvSpPr>
            <p:cNvPr id="5" name="Freeform 5"/>
            <p:cNvSpPr/>
            <p:nvPr/>
          </p:nvSpPr>
          <p:spPr>
            <a:xfrm rot="-5400000">
              <a:off x="5417820" y="-5417820"/>
              <a:ext cx="137160" cy="10972800"/>
            </a:xfrm>
            <a:custGeom>
              <a:avLst/>
              <a:gdLst/>
              <a:ahLst/>
              <a:cxnLst/>
              <a:rect l="l" t="t" r="r" b="b"/>
              <a:pathLst>
                <a:path w="137160" h="10972800">
                  <a:moveTo>
                    <a:pt x="0" y="0"/>
                  </a:moveTo>
                  <a:lnTo>
                    <a:pt x="137160" y="0"/>
                  </a:lnTo>
                  <a:lnTo>
                    <a:pt x="13716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Freeform 6"/>
            <p:cNvSpPr/>
            <p:nvPr/>
          </p:nvSpPr>
          <p:spPr>
            <a:xfrm rot="-5400000">
              <a:off x="16054670" y="-5417820"/>
              <a:ext cx="137160" cy="10972800"/>
            </a:xfrm>
            <a:custGeom>
              <a:avLst/>
              <a:gdLst/>
              <a:ahLst/>
              <a:cxnLst/>
              <a:rect l="l" t="t" r="r" b="b"/>
              <a:pathLst>
                <a:path w="137160" h="10972800">
                  <a:moveTo>
                    <a:pt x="0" y="0"/>
                  </a:moveTo>
                  <a:lnTo>
                    <a:pt x="137160" y="0"/>
                  </a:lnTo>
                  <a:lnTo>
                    <a:pt x="13716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AutoShape 7"/>
          <p:cNvSpPr/>
          <p:nvPr/>
        </p:nvSpPr>
        <p:spPr>
          <a:xfrm flipV="1">
            <a:off x="17121639" y="1132023"/>
            <a:ext cx="57150" cy="7203847"/>
          </a:xfrm>
          <a:prstGeom prst="line">
            <a:avLst/>
          </a:prstGeom>
          <a:ln w="114300" cap="flat">
            <a:solidFill>
              <a:srgbClr val="0D58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8" name="AutoShape 8"/>
          <p:cNvSpPr/>
          <p:nvPr/>
        </p:nvSpPr>
        <p:spPr>
          <a:xfrm flipH="1">
            <a:off x="979768" y="9258300"/>
            <a:ext cx="15021164" cy="0"/>
          </a:xfrm>
          <a:prstGeom prst="line">
            <a:avLst/>
          </a:prstGeom>
          <a:ln w="114300" cap="flat">
            <a:solidFill>
              <a:srgbClr val="0D58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Box 9"/>
          <p:cNvSpPr txBox="1"/>
          <p:nvPr/>
        </p:nvSpPr>
        <p:spPr>
          <a:xfrm>
            <a:off x="5828563" y="1219200"/>
            <a:ext cx="6630873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spc="-11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Proposta de Solução de Software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17901" y="3105150"/>
            <a:ext cx="15752636" cy="4107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2899" spc="-1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 solução que idealizamos foi o desenvolvimento de um aplicativo web para gestão de doações de alimentos, acessível por navegador e sem necessidade de instalação. A plataforma permitirá que colaboradores e voluntários registrem doações, controlem o estoque de alimentos e acompanhem a distribuição às famílias atendidas, enquanto doadores poderão cadastrar previamente suas doações pela área pública do sistema.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spc="-1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 sistema também contará com um dashboard com indicadores (KPIs), como volume de doações, alimentos distribuídos e itens próximos ao vencimento, além de relatórios e controle de acesso de usuários.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76215" y="8335870"/>
            <a:ext cx="1479340" cy="1479340"/>
          </a:xfrm>
          <a:custGeom>
            <a:avLst/>
            <a:gdLst/>
            <a:ahLst/>
            <a:cxnLst/>
            <a:rect l="l" t="t" r="r" b="b"/>
            <a:pathLst>
              <a:path w="1479340" h="1479340">
                <a:moveTo>
                  <a:pt x="0" y="0"/>
                </a:moveTo>
                <a:lnTo>
                  <a:pt x="1479340" y="0"/>
                </a:lnTo>
                <a:lnTo>
                  <a:pt x="1479340" y="1479340"/>
                </a:lnTo>
                <a:lnTo>
                  <a:pt x="0" y="1479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979768" y="1028700"/>
            <a:ext cx="102870" cy="8229600"/>
          </a:xfrm>
          <a:custGeom>
            <a:avLst/>
            <a:gdLst/>
            <a:ahLst/>
            <a:cxnLst/>
            <a:rect l="l" t="t" r="r" b="b"/>
            <a:pathLst>
              <a:path w="102870" h="8229600">
                <a:moveTo>
                  <a:pt x="0" y="0"/>
                </a:moveTo>
                <a:lnTo>
                  <a:pt x="102870" y="0"/>
                </a:lnTo>
                <a:lnTo>
                  <a:pt x="10287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4" name="Group 4"/>
          <p:cNvGrpSpPr/>
          <p:nvPr/>
        </p:nvGrpSpPr>
        <p:grpSpPr>
          <a:xfrm>
            <a:off x="1028700" y="1028700"/>
            <a:ext cx="16207237" cy="102870"/>
            <a:chOff x="0" y="0"/>
            <a:chExt cx="21609650" cy="137160"/>
          </a:xfrm>
        </p:grpSpPr>
        <p:sp>
          <p:nvSpPr>
            <p:cNvPr id="5" name="Freeform 5"/>
            <p:cNvSpPr/>
            <p:nvPr/>
          </p:nvSpPr>
          <p:spPr>
            <a:xfrm rot="-5400000">
              <a:off x="5417820" y="-5417820"/>
              <a:ext cx="137160" cy="10972800"/>
            </a:xfrm>
            <a:custGeom>
              <a:avLst/>
              <a:gdLst/>
              <a:ahLst/>
              <a:cxnLst/>
              <a:rect l="l" t="t" r="r" b="b"/>
              <a:pathLst>
                <a:path w="137160" h="10972800">
                  <a:moveTo>
                    <a:pt x="0" y="0"/>
                  </a:moveTo>
                  <a:lnTo>
                    <a:pt x="137160" y="0"/>
                  </a:lnTo>
                  <a:lnTo>
                    <a:pt x="13716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Freeform 6"/>
            <p:cNvSpPr/>
            <p:nvPr/>
          </p:nvSpPr>
          <p:spPr>
            <a:xfrm rot="-5400000">
              <a:off x="16054670" y="-5417820"/>
              <a:ext cx="137160" cy="10972800"/>
            </a:xfrm>
            <a:custGeom>
              <a:avLst/>
              <a:gdLst/>
              <a:ahLst/>
              <a:cxnLst/>
              <a:rect l="l" t="t" r="r" b="b"/>
              <a:pathLst>
                <a:path w="137160" h="10972800">
                  <a:moveTo>
                    <a:pt x="0" y="0"/>
                  </a:moveTo>
                  <a:lnTo>
                    <a:pt x="137160" y="0"/>
                  </a:lnTo>
                  <a:lnTo>
                    <a:pt x="13716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AutoShape 7"/>
          <p:cNvSpPr/>
          <p:nvPr/>
        </p:nvSpPr>
        <p:spPr>
          <a:xfrm flipV="1">
            <a:off x="17121639" y="1132023"/>
            <a:ext cx="57150" cy="7203847"/>
          </a:xfrm>
          <a:prstGeom prst="line">
            <a:avLst/>
          </a:prstGeom>
          <a:ln w="114300" cap="flat">
            <a:solidFill>
              <a:srgbClr val="0D58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8" name="AutoShape 8"/>
          <p:cNvSpPr/>
          <p:nvPr/>
        </p:nvSpPr>
        <p:spPr>
          <a:xfrm flipH="1">
            <a:off x="979768" y="9258300"/>
            <a:ext cx="15021164" cy="0"/>
          </a:xfrm>
          <a:prstGeom prst="line">
            <a:avLst/>
          </a:prstGeom>
          <a:ln w="114300" cap="flat">
            <a:solidFill>
              <a:srgbClr val="0D58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Box 9"/>
          <p:cNvSpPr txBox="1"/>
          <p:nvPr/>
        </p:nvSpPr>
        <p:spPr>
          <a:xfrm>
            <a:off x="5019643" y="1219200"/>
            <a:ext cx="8107844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spc="-11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Elicitação e Especificação dos Requisitos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43714" y="3105150"/>
            <a:ext cx="15472171" cy="359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spc="-1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As técnicas que utilizamos para levantar os requisitos foram a entrevista e o questionário, realizados diretamente com a gerente da ABOS, buscando entender as atividades realizadas no dia a dia, os serviços com maiores necessidades de melhorias, processos menos eficientes, etc.</a:t>
            </a:r>
          </a:p>
          <a:p>
            <a:pPr algn="ctr">
              <a:lnSpc>
                <a:spcPts val="4060"/>
              </a:lnSpc>
            </a:pPr>
            <a:r>
              <a:rPr lang="en-US" sz="2900" spc="-1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Além disso, o levantamento dos requisitos não funcionais foi algo com destaque nesse projeto, principalmento no quesito acessibilidade, uma vez que a maior parte dos voluntários e boa parte dos funcionários são pessoas idosas.</a:t>
            </a:r>
          </a:p>
          <a:p>
            <a:pPr algn="ctr">
              <a:lnSpc>
                <a:spcPts val="4060"/>
              </a:lnSpc>
              <a:spcBef>
                <a:spcPct val="0"/>
              </a:spcBef>
            </a:pPr>
            <a:endParaRPr lang="en-US" sz="2900" spc="-107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76215" y="8335870"/>
            <a:ext cx="1479340" cy="1479340"/>
          </a:xfrm>
          <a:custGeom>
            <a:avLst/>
            <a:gdLst/>
            <a:ahLst/>
            <a:cxnLst/>
            <a:rect l="l" t="t" r="r" b="b"/>
            <a:pathLst>
              <a:path w="1479340" h="1479340">
                <a:moveTo>
                  <a:pt x="0" y="0"/>
                </a:moveTo>
                <a:lnTo>
                  <a:pt x="1479340" y="0"/>
                </a:lnTo>
                <a:lnTo>
                  <a:pt x="1479340" y="1479340"/>
                </a:lnTo>
                <a:lnTo>
                  <a:pt x="0" y="1479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979768" y="1028700"/>
            <a:ext cx="102870" cy="8229600"/>
          </a:xfrm>
          <a:custGeom>
            <a:avLst/>
            <a:gdLst/>
            <a:ahLst/>
            <a:cxnLst/>
            <a:rect l="l" t="t" r="r" b="b"/>
            <a:pathLst>
              <a:path w="102870" h="8229600">
                <a:moveTo>
                  <a:pt x="0" y="0"/>
                </a:moveTo>
                <a:lnTo>
                  <a:pt x="102870" y="0"/>
                </a:lnTo>
                <a:lnTo>
                  <a:pt x="10287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4" name="Group 4"/>
          <p:cNvGrpSpPr/>
          <p:nvPr/>
        </p:nvGrpSpPr>
        <p:grpSpPr>
          <a:xfrm>
            <a:off x="1028700" y="1028700"/>
            <a:ext cx="16207237" cy="102870"/>
            <a:chOff x="0" y="0"/>
            <a:chExt cx="21609650" cy="137160"/>
          </a:xfrm>
        </p:grpSpPr>
        <p:sp>
          <p:nvSpPr>
            <p:cNvPr id="5" name="Freeform 5"/>
            <p:cNvSpPr/>
            <p:nvPr/>
          </p:nvSpPr>
          <p:spPr>
            <a:xfrm rot="-5400000">
              <a:off x="5417820" y="-5417820"/>
              <a:ext cx="137160" cy="10972800"/>
            </a:xfrm>
            <a:custGeom>
              <a:avLst/>
              <a:gdLst/>
              <a:ahLst/>
              <a:cxnLst/>
              <a:rect l="l" t="t" r="r" b="b"/>
              <a:pathLst>
                <a:path w="137160" h="10972800">
                  <a:moveTo>
                    <a:pt x="0" y="0"/>
                  </a:moveTo>
                  <a:lnTo>
                    <a:pt x="137160" y="0"/>
                  </a:lnTo>
                  <a:lnTo>
                    <a:pt x="13716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Freeform 6"/>
            <p:cNvSpPr/>
            <p:nvPr/>
          </p:nvSpPr>
          <p:spPr>
            <a:xfrm rot="-5400000">
              <a:off x="16054670" y="-5417820"/>
              <a:ext cx="137160" cy="10972800"/>
            </a:xfrm>
            <a:custGeom>
              <a:avLst/>
              <a:gdLst/>
              <a:ahLst/>
              <a:cxnLst/>
              <a:rect l="l" t="t" r="r" b="b"/>
              <a:pathLst>
                <a:path w="137160" h="10972800">
                  <a:moveTo>
                    <a:pt x="0" y="0"/>
                  </a:moveTo>
                  <a:lnTo>
                    <a:pt x="137160" y="0"/>
                  </a:lnTo>
                  <a:lnTo>
                    <a:pt x="13716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AutoShape 7"/>
          <p:cNvSpPr/>
          <p:nvPr/>
        </p:nvSpPr>
        <p:spPr>
          <a:xfrm flipV="1">
            <a:off x="17121639" y="1132023"/>
            <a:ext cx="57150" cy="7203847"/>
          </a:xfrm>
          <a:prstGeom prst="line">
            <a:avLst/>
          </a:prstGeom>
          <a:ln w="114300" cap="flat">
            <a:solidFill>
              <a:srgbClr val="0D58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8" name="AutoShape 8"/>
          <p:cNvSpPr/>
          <p:nvPr/>
        </p:nvSpPr>
        <p:spPr>
          <a:xfrm flipH="1">
            <a:off x="979768" y="9258300"/>
            <a:ext cx="15021164" cy="0"/>
          </a:xfrm>
          <a:prstGeom prst="line">
            <a:avLst/>
          </a:prstGeom>
          <a:ln w="114300" cap="flat">
            <a:solidFill>
              <a:srgbClr val="0D58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Box 9"/>
          <p:cNvSpPr txBox="1"/>
          <p:nvPr/>
        </p:nvSpPr>
        <p:spPr>
          <a:xfrm>
            <a:off x="5517271" y="1219200"/>
            <a:ext cx="7253457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spc="-11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Conceitos e Tecnologias Envolvidos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05050" y="3105150"/>
            <a:ext cx="13511151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spc="-1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Para construção do software optamos por utlizar as seguintes tecnologias e ferramentas: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05050" y="4086225"/>
            <a:ext cx="4129309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spc="-1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Arquitetura Web (AWS)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305050" y="4752975"/>
            <a:ext cx="9129687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spc="-1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Interface do Usuário – Front-end(HTML, CSS, JavaScript)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305050" y="5419725"/>
            <a:ext cx="7763945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spc="-1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Lógica do Sistema – Back-end(JavaScript, Node.js)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05050" y="6086475"/>
            <a:ext cx="7763945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spc="-1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Banco de Dados(Oracle)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305050" y="6753225"/>
            <a:ext cx="7763945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spc="-1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API(API Rest)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305050" y="7419975"/>
            <a:ext cx="7763945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spc="-1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Dashboard e Visualização de Dados(Chrt.js)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305050" y="8086725"/>
            <a:ext cx="7763945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spc="-1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Controle de Versão(Git, GitHub)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76215" y="8335870"/>
            <a:ext cx="1479340" cy="1479340"/>
          </a:xfrm>
          <a:custGeom>
            <a:avLst/>
            <a:gdLst/>
            <a:ahLst/>
            <a:cxnLst/>
            <a:rect l="l" t="t" r="r" b="b"/>
            <a:pathLst>
              <a:path w="1479340" h="1479340">
                <a:moveTo>
                  <a:pt x="0" y="0"/>
                </a:moveTo>
                <a:lnTo>
                  <a:pt x="1479340" y="0"/>
                </a:lnTo>
                <a:lnTo>
                  <a:pt x="1479340" y="1479340"/>
                </a:lnTo>
                <a:lnTo>
                  <a:pt x="0" y="1479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979768" y="1028700"/>
            <a:ext cx="102870" cy="8229600"/>
          </a:xfrm>
          <a:custGeom>
            <a:avLst/>
            <a:gdLst/>
            <a:ahLst/>
            <a:cxnLst/>
            <a:rect l="l" t="t" r="r" b="b"/>
            <a:pathLst>
              <a:path w="102870" h="8229600">
                <a:moveTo>
                  <a:pt x="0" y="0"/>
                </a:moveTo>
                <a:lnTo>
                  <a:pt x="102870" y="0"/>
                </a:lnTo>
                <a:lnTo>
                  <a:pt x="10287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4" name="Group 4"/>
          <p:cNvGrpSpPr/>
          <p:nvPr/>
        </p:nvGrpSpPr>
        <p:grpSpPr>
          <a:xfrm>
            <a:off x="1028700" y="1028700"/>
            <a:ext cx="16207237" cy="102870"/>
            <a:chOff x="0" y="0"/>
            <a:chExt cx="21609650" cy="137160"/>
          </a:xfrm>
        </p:grpSpPr>
        <p:sp>
          <p:nvSpPr>
            <p:cNvPr id="5" name="Freeform 5"/>
            <p:cNvSpPr/>
            <p:nvPr/>
          </p:nvSpPr>
          <p:spPr>
            <a:xfrm rot="-5400000">
              <a:off x="5417820" y="-5417820"/>
              <a:ext cx="137160" cy="10972800"/>
            </a:xfrm>
            <a:custGeom>
              <a:avLst/>
              <a:gdLst/>
              <a:ahLst/>
              <a:cxnLst/>
              <a:rect l="l" t="t" r="r" b="b"/>
              <a:pathLst>
                <a:path w="137160" h="10972800">
                  <a:moveTo>
                    <a:pt x="0" y="0"/>
                  </a:moveTo>
                  <a:lnTo>
                    <a:pt x="137160" y="0"/>
                  </a:lnTo>
                  <a:lnTo>
                    <a:pt x="13716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Freeform 6"/>
            <p:cNvSpPr/>
            <p:nvPr/>
          </p:nvSpPr>
          <p:spPr>
            <a:xfrm rot="-5400000">
              <a:off x="16054670" y="-5417820"/>
              <a:ext cx="137160" cy="10972800"/>
            </a:xfrm>
            <a:custGeom>
              <a:avLst/>
              <a:gdLst/>
              <a:ahLst/>
              <a:cxnLst/>
              <a:rect l="l" t="t" r="r" b="b"/>
              <a:pathLst>
                <a:path w="137160" h="10972800">
                  <a:moveTo>
                    <a:pt x="0" y="0"/>
                  </a:moveTo>
                  <a:lnTo>
                    <a:pt x="137160" y="0"/>
                  </a:lnTo>
                  <a:lnTo>
                    <a:pt x="13716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AutoShape 7"/>
          <p:cNvSpPr/>
          <p:nvPr/>
        </p:nvSpPr>
        <p:spPr>
          <a:xfrm flipV="1">
            <a:off x="17121639" y="1132023"/>
            <a:ext cx="57150" cy="7203847"/>
          </a:xfrm>
          <a:prstGeom prst="line">
            <a:avLst/>
          </a:prstGeom>
          <a:ln w="114300" cap="flat">
            <a:solidFill>
              <a:srgbClr val="0D58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8" name="AutoShape 8"/>
          <p:cNvSpPr/>
          <p:nvPr/>
        </p:nvSpPr>
        <p:spPr>
          <a:xfrm flipH="1">
            <a:off x="979768" y="9258300"/>
            <a:ext cx="15021164" cy="0"/>
          </a:xfrm>
          <a:prstGeom prst="line">
            <a:avLst/>
          </a:prstGeom>
          <a:ln w="114300" cap="flat">
            <a:solidFill>
              <a:srgbClr val="0D58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Box 9"/>
          <p:cNvSpPr txBox="1"/>
          <p:nvPr/>
        </p:nvSpPr>
        <p:spPr>
          <a:xfrm>
            <a:off x="7547756" y="1228725"/>
            <a:ext cx="3192489" cy="54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sz="3100" b="1" spc="-11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Estado-da-arte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55601" y="3105150"/>
            <a:ext cx="15732741" cy="3079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spc="-1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Atualmente, existem plataformas de doações como </a:t>
            </a:r>
            <a:r>
              <a:rPr lang="en-US" sz="2900" u="sng" spc="-1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4" tooltip="https://www.vakinha.com.br/?utm_source=chatgpt.com"/>
              </a:rPr>
              <a:t>Vakinha</a:t>
            </a:r>
            <a:r>
              <a:rPr lang="en-US" sz="2900" spc="-1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900" u="sng" spc="-1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5" tooltip="https://benfeitoria.com/?utm_source=chatgpt.com"/>
              </a:rPr>
              <a:t>Benfeitoria</a:t>
            </a:r>
            <a:r>
              <a:rPr lang="en-US" sz="2900" spc="-1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e </a:t>
            </a:r>
            <a:r>
              <a:rPr lang="en-US" sz="2900" u="sng" spc="-1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6" tooltip="https://www.gofundme.com/pt-pt?utm_source=chatgpt.com"/>
              </a:rPr>
              <a:t>GoFundMe</a:t>
            </a:r>
            <a:r>
              <a:rPr lang="en-US" sz="2900" spc="-1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voltadas principalmente para arrecadação financeira. No entanto, essas ferramentas não atendem de forma específica às necessidades de controle de doações de alimentos, como gestão de estoque, validade e distribuição. Outras soluções, como </a:t>
            </a:r>
            <a:r>
              <a:rPr lang="en-US" sz="2900" u="sng" spc="-1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7" tooltip="https://www.techsoup.org/?utm_source=chatgpt.com"/>
              </a:rPr>
              <a:t>TechSoup</a:t>
            </a:r>
            <a:r>
              <a:rPr lang="en-US" sz="2900" spc="-1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oferecem suporte tecnológico para ONGs, mas podem apresentar custos, complexidade ou falta de funcionalidades adequadas para instituições menores. Assim, identificamos a necessidade de uma solução simples e customizada para a ABOS.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76215" y="8335870"/>
            <a:ext cx="1479340" cy="1479340"/>
          </a:xfrm>
          <a:custGeom>
            <a:avLst/>
            <a:gdLst/>
            <a:ahLst/>
            <a:cxnLst/>
            <a:rect l="l" t="t" r="r" b="b"/>
            <a:pathLst>
              <a:path w="1479340" h="1479340">
                <a:moveTo>
                  <a:pt x="0" y="0"/>
                </a:moveTo>
                <a:lnTo>
                  <a:pt x="1479340" y="0"/>
                </a:lnTo>
                <a:lnTo>
                  <a:pt x="1479340" y="1479340"/>
                </a:lnTo>
                <a:lnTo>
                  <a:pt x="0" y="1479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979768" y="1028700"/>
            <a:ext cx="102870" cy="8229600"/>
          </a:xfrm>
          <a:custGeom>
            <a:avLst/>
            <a:gdLst/>
            <a:ahLst/>
            <a:cxnLst/>
            <a:rect l="l" t="t" r="r" b="b"/>
            <a:pathLst>
              <a:path w="102870" h="8229600">
                <a:moveTo>
                  <a:pt x="0" y="0"/>
                </a:moveTo>
                <a:lnTo>
                  <a:pt x="102870" y="0"/>
                </a:lnTo>
                <a:lnTo>
                  <a:pt x="10287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4" name="Group 4"/>
          <p:cNvGrpSpPr/>
          <p:nvPr/>
        </p:nvGrpSpPr>
        <p:grpSpPr>
          <a:xfrm>
            <a:off x="1028700" y="1028700"/>
            <a:ext cx="16207237" cy="102870"/>
            <a:chOff x="0" y="0"/>
            <a:chExt cx="21609650" cy="137160"/>
          </a:xfrm>
        </p:grpSpPr>
        <p:sp>
          <p:nvSpPr>
            <p:cNvPr id="5" name="Freeform 5"/>
            <p:cNvSpPr/>
            <p:nvPr/>
          </p:nvSpPr>
          <p:spPr>
            <a:xfrm rot="-5400000">
              <a:off x="5417820" y="-5417820"/>
              <a:ext cx="137160" cy="10972800"/>
            </a:xfrm>
            <a:custGeom>
              <a:avLst/>
              <a:gdLst/>
              <a:ahLst/>
              <a:cxnLst/>
              <a:rect l="l" t="t" r="r" b="b"/>
              <a:pathLst>
                <a:path w="137160" h="10972800">
                  <a:moveTo>
                    <a:pt x="0" y="0"/>
                  </a:moveTo>
                  <a:lnTo>
                    <a:pt x="137160" y="0"/>
                  </a:lnTo>
                  <a:lnTo>
                    <a:pt x="13716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Freeform 6"/>
            <p:cNvSpPr/>
            <p:nvPr/>
          </p:nvSpPr>
          <p:spPr>
            <a:xfrm rot="-5400000">
              <a:off x="16054670" y="-5417820"/>
              <a:ext cx="137160" cy="10972800"/>
            </a:xfrm>
            <a:custGeom>
              <a:avLst/>
              <a:gdLst/>
              <a:ahLst/>
              <a:cxnLst/>
              <a:rect l="l" t="t" r="r" b="b"/>
              <a:pathLst>
                <a:path w="137160" h="10972800">
                  <a:moveTo>
                    <a:pt x="0" y="0"/>
                  </a:moveTo>
                  <a:lnTo>
                    <a:pt x="137160" y="0"/>
                  </a:lnTo>
                  <a:lnTo>
                    <a:pt x="13716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AutoShape 7"/>
          <p:cNvSpPr/>
          <p:nvPr/>
        </p:nvSpPr>
        <p:spPr>
          <a:xfrm flipV="1">
            <a:off x="17121639" y="1132023"/>
            <a:ext cx="57150" cy="7203847"/>
          </a:xfrm>
          <a:prstGeom prst="line">
            <a:avLst/>
          </a:prstGeom>
          <a:ln w="114300" cap="flat">
            <a:solidFill>
              <a:srgbClr val="0D58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8" name="AutoShape 8"/>
          <p:cNvSpPr/>
          <p:nvPr/>
        </p:nvSpPr>
        <p:spPr>
          <a:xfrm flipH="1">
            <a:off x="979768" y="9258300"/>
            <a:ext cx="15021164" cy="0"/>
          </a:xfrm>
          <a:prstGeom prst="line">
            <a:avLst/>
          </a:prstGeom>
          <a:ln w="114300" cap="flat">
            <a:solidFill>
              <a:srgbClr val="0D58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9" name="Freeform 9"/>
          <p:cNvSpPr/>
          <p:nvPr/>
        </p:nvSpPr>
        <p:spPr>
          <a:xfrm>
            <a:off x="4126012" y="1957070"/>
            <a:ext cx="10012614" cy="6839146"/>
          </a:xfrm>
          <a:custGeom>
            <a:avLst/>
            <a:gdLst/>
            <a:ahLst/>
            <a:cxnLst/>
            <a:rect l="l" t="t" r="r" b="b"/>
            <a:pathLst>
              <a:path w="10012614" h="6839146">
                <a:moveTo>
                  <a:pt x="0" y="0"/>
                </a:moveTo>
                <a:lnTo>
                  <a:pt x="10012614" y="0"/>
                </a:lnTo>
                <a:lnTo>
                  <a:pt x="10012614" y="6839146"/>
                </a:lnTo>
                <a:lnTo>
                  <a:pt x="0" y="68391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0" name="TextBox 10"/>
          <p:cNvSpPr txBox="1"/>
          <p:nvPr/>
        </p:nvSpPr>
        <p:spPr>
          <a:xfrm>
            <a:off x="7134284" y="1219200"/>
            <a:ext cx="4195656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spc="-118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Requisitos</a:t>
            </a:r>
            <a:r>
              <a:rPr lang="en-US" sz="3200" b="1" spc="-118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200" b="1" spc="-118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Funcionais</a:t>
            </a:r>
            <a:endParaRPr lang="en-US" sz="3200" b="1" spc="-118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B3D7D-D440-4C88-BD6C-6DAA8252B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530570F-4D06-0523-7E39-C305C5CCCF9E}"/>
              </a:ext>
            </a:extLst>
          </p:cNvPr>
          <p:cNvSpPr/>
          <p:nvPr/>
        </p:nvSpPr>
        <p:spPr>
          <a:xfrm>
            <a:off x="16076215" y="8335870"/>
            <a:ext cx="1479340" cy="1479340"/>
          </a:xfrm>
          <a:custGeom>
            <a:avLst/>
            <a:gdLst/>
            <a:ahLst/>
            <a:cxnLst/>
            <a:rect l="l" t="t" r="r" b="b"/>
            <a:pathLst>
              <a:path w="1479340" h="1479340">
                <a:moveTo>
                  <a:pt x="0" y="0"/>
                </a:moveTo>
                <a:lnTo>
                  <a:pt x="1479340" y="0"/>
                </a:lnTo>
                <a:lnTo>
                  <a:pt x="1479340" y="1479340"/>
                </a:lnTo>
                <a:lnTo>
                  <a:pt x="0" y="1479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5F1D5ED-0537-9C1D-A6FF-A0BDCB79F3D5}"/>
              </a:ext>
            </a:extLst>
          </p:cNvPr>
          <p:cNvSpPr/>
          <p:nvPr/>
        </p:nvSpPr>
        <p:spPr>
          <a:xfrm>
            <a:off x="979768" y="1028700"/>
            <a:ext cx="102870" cy="8229600"/>
          </a:xfrm>
          <a:custGeom>
            <a:avLst/>
            <a:gdLst/>
            <a:ahLst/>
            <a:cxnLst/>
            <a:rect l="l" t="t" r="r" b="b"/>
            <a:pathLst>
              <a:path w="102870" h="8229600">
                <a:moveTo>
                  <a:pt x="0" y="0"/>
                </a:moveTo>
                <a:lnTo>
                  <a:pt x="102870" y="0"/>
                </a:lnTo>
                <a:lnTo>
                  <a:pt x="10287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3A0414BF-EF4A-4C38-5960-93B2F98189E0}"/>
              </a:ext>
            </a:extLst>
          </p:cNvPr>
          <p:cNvGrpSpPr/>
          <p:nvPr/>
        </p:nvGrpSpPr>
        <p:grpSpPr>
          <a:xfrm>
            <a:off x="1028700" y="1028700"/>
            <a:ext cx="16207237" cy="102870"/>
            <a:chOff x="0" y="0"/>
            <a:chExt cx="21609650" cy="1371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F1966BC-12AA-3DFF-9813-2C3D2DFFA098}"/>
                </a:ext>
              </a:extLst>
            </p:cNvPr>
            <p:cNvSpPr/>
            <p:nvPr/>
          </p:nvSpPr>
          <p:spPr>
            <a:xfrm rot="-5400000">
              <a:off x="5417820" y="-5417820"/>
              <a:ext cx="137160" cy="10972800"/>
            </a:xfrm>
            <a:custGeom>
              <a:avLst/>
              <a:gdLst/>
              <a:ahLst/>
              <a:cxnLst/>
              <a:rect l="l" t="t" r="r" b="b"/>
              <a:pathLst>
                <a:path w="137160" h="10972800">
                  <a:moveTo>
                    <a:pt x="0" y="0"/>
                  </a:moveTo>
                  <a:lnTo>
                    <a:pt x="137160" y="0"/>
                  </a:lnTo>
                  <a:lnTo>
                    <a:pt x="13716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874422F-B47B-49A6-41F3-DFBFEC9D7426}"/>
                </a:ext>
              </a:extLst>
            </p:cNvPr>
            <p:cNvSpPr/>
            <p:nvPr/>
          </p:nvSpPr>
          <p:spPr>
            <a:xfrm rot="-5400000">
              <a:off x="16054670" y="-5417820"/>
              <a:ext cx="137160" cy="10972800"/>
            </a:xfrm>
            <a:custGeom>
              <a:avLst/>
              <a:gdLst/>
              <a:ahLst/>
              <a:cxnLst/>
              <a:rect l="l" t="t" r="r" b="b"/>
              <a:pathLst>
                <a:path w="137160" h="10972800">
                  <a:moveTo>
                    <a:pt x="0" y="0"/>
                  </a:moveTo>
                  <a:lnTo>
                    <a:pt x="137160" y="0"/>
                  </a:lnTo>
                  <a:lnTo>
                    <a:pt x="13716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AutoShape 7">
            <a:extLst>
              <a:ext uri="{FF2B5EF4-FFF2-40B4-BE49-F238E27FC236}">
                <a16:creationId xmlns:a16="http://schemas.microsoft.com/office/drawing/2014/main" id="{229E77AD-B2A5-789B-56A9-5699FC4DE27D}"/>
              </a:ext>
            </a:extLst>
          </p:cNvPr>
          <p:cNvSpPr/>
          <p:nvPr/>
        </p:nvSpPr>
        <p:spPr>
          <a:xfrm flipV="1">
            <a:off x="17121639" y="1132023"/>
            <a:ext cx="57150" cy="7203847"/>
          </a:xfrm>
          <a:prstGeom prst="line">
            <a:avLst/>
          </a:prstGeom>
          <a:ln w="114300" cap="flat">
            <a:solidFill>
              <a:srgbClr val="0D58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DEECC635-DBF2-7CF0-7DF2-582497734993}"/>
              </a:ext>
            </a:extLst>
          </p:cNvPr>
          <p:cNvSpPr/>
          <p:nvPr/>
        </p:nvSpPr>
        <p:spPr>
          <a:xfrm flipH="1">
            <a:off x="979768" y="9258300"/>
            <a:ext cx="15021164" cy="0"/>
          </a:xfrm>
          <a:prstGeom prst="line">
            <a:avLst/>
          </a:prstGeom>
          <a:ln w="114300" cap="flat">
            <a:solidFill>
              <a:srgbClr val="0D58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9172FA5-C125-5C87-3598-0179C935B45C}"/>
              </a:ext>
            </a:extLst>
          </p:cNvPr>
          <p:cNvSpPr txBox="1"/>
          <p:nvPr/>
        </p:nvSpPr>
        <p:spPr>
          <a:xfrm>
            <a:off x="7265819" y="1220400"/>
            <a:ext cx="3984962" cy="5262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spc="-118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Diagrama</a:t>
            </a:r>
            <a:r>
              <a:rPr lang="en-US" sz="3200" b="1" spc="-118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de classes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DA7F2E6C-6608-03F0-F614-7D40C03722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1835463"/>
            <a:ext cx="11715749" cy="720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472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B3CE5-AEED-66B6-6241-CEFCDE7CF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42ED1DE-7434-0335-2A70-C0316A222B0D}"/>
              </a:ext>
            </a:extLst>
          </p:cNvPr>
          <p:cNvSpPr/>
          <p:nvPr/>
        </p:nvSpPr>
        <p:spPr>
          <a:xfrm>
            <a:off x="16076215" y="8335870"/>
            <a:ext cx="1479340" cy="1479340"/>
          </a:xfrm>
          <a:custGeom>
            <a:avLst/>
            <a:gdLst/>
            <a:ahLst/>
            <a:cxnLst/>
            <a:rect l="l" t="t" r="r" b="b"/>
            <a:pathLst>
              <a:path w="1479340" h="1479340">
                <a:moveTo>
                  <a:pt x="0" y="0"/>
                </a:moveTo>
                <a:lnTo>
                  <a:pt x="1479340" y="0"/>
                </a:lnTo>
                <a:lnTo>
                  <a:pt x="1479340" y="1479340"/>
                </a:lnTo>
                <a:lnTo>
                  <a:pt x="0" y="1479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3EC8F56-4BEE-49BE-CFE1-509513A7EC98}"/>
              </a:ext>
            </a:extLst>
          </p:cNvPr>
          <p:cNvSpPr/>
          <p:nvPr/>
        </p:nvSpPr>
        <p:spPr>
          <a:xfrm>
            <a:off x="979768" y="1028700"/>
            <a:ext cx="102870" cy="8229600"/>
          </a:xfrm>
          <a:custGeom>
            <a:avLst/>
            <a:gdLst/>
            <a:ahLst/>
            <a:cxnLst/>
            <a:rect l="l" t="t" r="r" b="b"/>
            <a:pathLst>
              <a:path w="102870" h="8229600">
                <a:moveTo>
                  <a:pt x="0" y="0"/>
                </a:moveTo>
                <a:lnTo>
                  <a:pt x="102870" y="0"/>
                </a:lnTo>
                <a:lnTo>
                  <a:pt x="10287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FDD1EBE-9939-6DDF-4E91-A40FF4064B9B}"/>
              </a:ext>
            </a:extLst>
          </p:cNvPr>
          <p:cNvGrpSpPr/>
          <p:nvPr/>
        </p:nvGrpSpPr>
        <p:grpSpPr>
          <a:xfrm>
            <a:off x="1028700" y="1028700"/>
            <a:ext cx="16207237" cy="102870"/>
            <a:chOff x="0" y="0"/>
            <a:chExt cx="21609650" cy="1371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1CA43E5-D125-F0F5-32CD-2A246DFD9EE5}"/>
                </a:ext>
              </a:extLst>
            </p:cNvPr>
            <p:cNvSpPr/>
            <p:nvPr/>
          </p:nvSpPr>
          <p:spPr>
            <a:xfrm rot="-5400000">
              <a:off x="5417820" y="-5417820"/>
              <a:ext cx="137160" cy="10972800"/>
            </a:xfrm>
            <a:custGeom>
              <a:avLst/>
              <a:gdLst/>
              <a:ahLst/>
              <a:cxnLst/>
              <a:rect l="l" t="t" r="r" b="b"/>
              <a:pathLst>
                <a:path w="137160" h="10972800">
                  <a:moveTo>
                    <a:pt x="0" y="0"/>
                  </a:moveTo>
                  <a:lnTo>
                    <a:pt x="137160" y="0"/>
                  </a:lnTo>
                  <a:lnTo>
                    <a:pt x="13716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633E115-B1EF-9838-E898-B399CE3A1502}"/>
                </a:ext>
              </a:extLst>
            </p:cNvPr>
            <p:cNvSpPr/>
            <p:nvPr/>
          </p:nvSpPr>
          <p:spPr>
            <a:xfrm rot="-5400000">
              <a:off x="16054670" y="-5417820"/>
              <a:ext cx="137160" cy="10972800"/>
            </a:xfrm>
            <a:custGeom>
              <a:avLst/>
              <a:gdLst/>
              <a:ahLst/>
              <a:cxnLst/>
              <a:rect l="l" t="t" r="r" b="b"/>
              <a:pathLst>
                <a:path w="137160" h="10972800">
                  <a:moveTo>
                    <a:pt x="0" y="0"/>
                  </a:moveTo>
                  <a:lnTo>
                    <a:pt x="137160" y="0"/>
                  </a:lnTo>
                  <a:lnTo>
                    <a:pt x="13716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AutoShape 7">
            <a:extLst>
              <a:ext uri="{FF2B5EF4-FFF2-40B4-BE49-F238E27FC236}">
                <a16:creationId xmlns:a16="http://schemas.microsoft.com/office/drawing/2014/main" id="{606B15A2-B1F4-F760-FFA2-81A633C634BC}"/>
              </a:ext>
            </a:extLst>
          </p:cNvPr>
          <p:cNvSpPr/>
          <p:nvPr/>
        </p:nvSpPr>
        <p:spPr>
          <a:xfrm flipV="1">
            <a:off x="17121639" y="1132023"/>
            <a:ext cx="57150" cy="7203847"/>
          </a:xfrm>
          <a:prstGeom prst="line">
            <a:avLst/>
          </a:prstGeom>
          <a:ln w="114300" cap="flat">
            <a:solidFill>
              <a:srgbClr val="0D58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3CFC3113-70DE-679E-ADEB-6166CC754788}"/>
              </a:ext>
            </a:extLst>
          </p:cNvPr>
          <p:cNvSpPr/>
          <p:nvPr/>
        </p:nvSpPr>
        <p:spPr>
          <a:xfrm flipH="1">
            <a:off x="979768" y="9258300"/>
            <a:ext cx="15021164" cy="0"/>
          </a:xfrm>
          <a:prstGeom prst="line">
            <a:avLst/>
          </a:prstGeom>
          <a:ln w="114300" cap="flat">
            <a:solidFill>
              <a:srgbClr val="0D58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F71DCD1-DA6A-D514-C168-7777747D5116}"/>
              </a:ext>
            </a:extLst>
          </p:cNvPr>
          <p:cNvSpPr txBox="1"/>
          <p:nvPr/>
        </p:nvSpPr>
        <p:spPr>
          <a:xfrm>
            <a:off x="7023809" y="1220400"/>
            <a:ext cx="4468981" cy="5262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spc="-118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Protótipos</a:t>
            </a:r>
            <a:r>
              <a:rPr lang="en-US" sz="3200" b="1" spc="-118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de Interfaces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28074D5-DB04-2EB0-0F0F-CF3A6406DC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000" y="1890000"/>
            <a:ext cx="13415460" cy="720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94213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A37FA-CAAC-725B-1977-EC4F0FE88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ED997E4-79C8-DDA0-A256-8213C3064FCC}"/>
              </a:ext>
            </a:extLst>
          </p:cNvPr>
          <p:cNvSpPr/>
          <p:nvPr/>
        </p:nvSpPr>
        <p:spPr>
          <a:xfrm>
            <a:off x="16076215" y="8335870"/>
            <a:ext cx="1479340" cy="1479340"/>
          </a:xfrm>
          <a:custGeom>
            <a:avLst/>
            <a:gdLst/>
            <a:ahLst/>
            <a:cxnLst/>
            <a:rect l="l" t="t" r="r" b="b"/>
            <a:pathLst>
              <a:path w="1479340" h="1479340">
                <a:moveTo>
                  <a:pt x="0" y="0"/>
                </a:moveTo>
                <a:lnTo>
                  <a:pt x="1479340" y="0"/>
                </a:lnTo>
                <a:lnTo>
                  <a:pt x="1479340" y="1479340"/>
                </a:lnTo>
                <a:lnTo>
                  <a:pt x="0" y="1479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D40722D-BF15-5419-1D37-8F970130915A}"/>
              </a:ext>
            </a:extLst>
          </p:cNvPr>
          <p:cNvSpPr/>
          <p:nvPr/>
        </p:nvSpPr>
        <p:spPr>
          <a:xfrm>
            <a:off x="979768" y="1028700"/>
            <a:ext cx="102870" cy="8229600"/>
          </a:xfrm>
          <a:custGeom>
            <a:avLst/>
            <a:gdLst/>
            <a:ahLst/>
            <a:cxnLst/>
            <a:rect l="l" t="t" r="r" b="b"/>
            <a:pathLst>
              <a:path w="102870" h="8229600">
                <a:moveTo>
                  <a:pt x="0" y="0"/>
                </a:moveTo>
                <a:lnTo>
                  <a:pt x="102870" y="0"/>
                </a:lnTo>
                <a:lnTo>
                  <a:pt x="10287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2044B26-CD6F-C2EE-E812-9AF3502EBE44}"/>
              </a:ext>
            </a:extLst>
          </p:cNvPr>
          <p:cNvGrpSpPr/>
          <p:nvPr/>
        </p:nvGrpSpPr>
        <p:grpSpPr>
          <a:xfrm>
            <a:off x="1028700" y="1028700"/>
            <a:ext cx="16207237" cy="102870"/>
            <a:chOff x="0" y="0"/>
            <a:chExt cx="21609650" cy="1371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4CCA156-C51F-90E1-55C9-41F8FC9ECFE7}"/>
                </a:ext>
              </a:extLst>
            </p:cNvPr>
            <p:cNvSpPr/>
            <p:nvPr/>
          </p:nvSpPr>
          <p:spPr>
            <a:xfrm rot="-5400000">
              <a:off x="5417820" y="-5417820"/>
              <a:ext cx="137160" cy="10972800"/>
            </a:xfrm>
            <a:custGeom>
              <a:avLst/>
              <a:gdLst/>
              <a:ahLst/>
              <a:cxnLst/>
              <a:rect l="l" t="t" r="r" b="b"/>
              <a:pathLst>
                <a:path w="137160" h="10972800">
                  <a:moveTo>
                    <a:pt x="0" y="0"/>
                  </a:moveTo>
                  <a:lnTo>
                    <a:pt x="137160" y="0"/>
                  </a:lnTo>
                  <a:lnTo>
                    <a:pt x="13716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5736151-F374-6C3A-F89B-9414DCE8E820}"/>
                </a:ext>
              </a:extLst>
            </p:cNvPr>
            <p:cNvSpPr/>
            <p:nvPr/>
          </p:nvSpPr>
          <p:spPr>
            <a:xfrm rot="-5400000">
              <a:off x="16054670" y="-5417820"/>
              <a:ext cx="137160" cy="10972800"/>
            </a:xfrm>
            <a:custGeom>
              <a:avLst/>
              <a:gdLst/>
              <a:ahLst/>
              <a:cxnLst/>
              <a:rect l="l" t="t" r="r" b="b"/>
              <a:pathLst>
                <a:path w="137160" h="10972800">
                  <a:moveTo>
                    <a:pt x="0" y="0"/>
                  </a:moveTo>
                  <a:lnTo>
                    <a:pt x="137160" y="0"/>
                  </a:lnTo>
                  <a:lnTo>
                    <a:pt x="13716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AutoShape 7">
            <a:extLst>
              <a:ext uri="{FF2B5EF4-FFF2-40B4-BE49-F238E27FC236}">
                <a16:creationId xmlns:a16="http://schemas.microsoft.com/office/drawing/2014/main" id="{16D04EB6-15A5-7FAC-7FE3-A630B9B9D56E}"/>
              </a:ext>
            </a:extLst>
          </p:cNvPr>
          <p:cNvSpPr/>
          <p:nvPr/>
        </p:nvSpPr>
        <p:spPr>
          <a:xfrm flipV="1">
            <a:off x="17121639" y="1132023"/>
            <a:ext cx="57150" cy="7203847"/>
          </a:xfrm>
          <a:prstGeom prst="line">
            <a:avLst/>
          </a:prstGeom>
          <a:ln w="114300" cap="flat">
            <a:solidFill>
              <a:srgbClr val="0D58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8D6624E0-CF72-7450-033E-C0ABA28EF623}"/>
              </a:ext>
            </a:extLst>
          </p:cNvPr>
          <p:cNvSpPr/>
          <p:nvPr/>
        </p:nvSpPr>
        <p:spPr>
          <a:xfrm flipH="1">
            <a:off x="979768" y="9258300"/>
            <a:ext cx="15021164" cy="0"/>
          </a:xfrm>
          <a:prstGeom prst="line">
            <a:avLst/>
          </a:prstGeom>
          <a:ln w="114300" cap="flat">
            <a:solidFill>
              <a:srgbClr val="0D58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90E3AA4-D068-5C09-D801-AF733EE86DBC}"/>
              </a:ext>
            </a:extLst>
          </p:cNvPr>
          <p:cNvSpPr txBox="1"/>
          <p:nvPr/>
        </p:nvSpPr>
        <p:spPr>
          <a:xfrm>
            <a:off x="7023809" y="1220400"/>
            <a:ext cx="4468981" cy="5262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spc="-118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Protótipos</a:t>
            </a:r>
            <a:r>
              <a:rPr lang="en-US" sz="3200" b="1" spc="-118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de Interfaces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97C91603-3CF3-D531-338D-C0B5F8C269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000" y="1890000"/>
            <a:ext cx="13417200" cy="72757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86235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0391D-FA9B-9FC9-1F52-BD79D639F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EBC0ED9-45C0-31E8-2A0F-5EC13DC51B88}"/>
              </a:ext>
            </a:extLst>
          </p:cNvPr>
          <p:cNvSpPr/>
          <p:nvPr/>
        </p:nvSpPr>
        <p:spPr>
          <a:xfrm>
            <a:off x="16076215" y="8335870"/>
            <a:ext cx="1479340" cy="1479340"/>
          </a:xfrm>
          <a:custGeom>
            <a:avLst/>
            <a:gdLst/>
            <a:ahLst/>
            <a:cxnLst/>
            <a:rect l="l" t="t" r="r" b="b"/>
            <a:pathLst>
              <a:path w="1479340" h="1479340">
                <a:moveTo>
                  <a:pt x="0" y="0"/>
                </a:moveTo>
                <a:lnTo>
                  <a:pt x="1479340" y="0"/>
                </a:lnTo>
                <a:lnTo>
                  <a:pt x="1479340" y="1479340"/>
                </a:lnTo>
                <a:lnTo>
                  <a:pt x="0" y="1479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F53F4A9-6E77-856B-8780-3B65931120F1}"/>
              </a:ext>
            </a:extLst>
          </p:cNvPr>
          <p:cNvSpPr/>
          <p:nvPr/>
        </p:nvSpPr>
        <p:spPr>
          <a:xfrm>
            <a:off x="979768" y="1028700"/>
            <a:ext cx="102870" cy="8229600"/>
          </a:xfrm>
          <a:custGeom>
            <a:avLst/>
            <a:gdLst/>
            <a:ahLst/>
            <a:cxnLst/>
            <a:rect l="l" t="t" r="r" b="b"/>
            <a:pathLst>
              <a:path w="102870" h="8229600">
                <a:moveTo>
                  <a:pt x="0" y="0"/>
                </a:moveTo>
                <a:lnTo>
                  <a:pt x="102870" y="0"/>
                </a:lnTo>
                <a:lnTo>
                  <a:pt x="10287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92ABEAE-76E7-BAD7-BA01-A2800E7E9B5A}"/>
              </a:ext>
            </a:extLst>
          </p:cNvPr>
          <p:cNvGrpSpPr/>
          <p:nvPr/>
        </p:nvGrpSpPr>
        <p:grpSpPr>
          <a:xfrm>
            <a:off x="1028700" y="1028700"/>
            <a:ext cx="16207237" cy="102870"/>
            <a:chOff x="0" y="0"/>
            <a:chExt cx="21609650" cy="1371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111F5D0-6CD1-B718-40D2-C61FB4A9B080}"/>
                </a:ext>
              </a:extLst>
            </p:cNvPr>
            <p:cNvSpPr/>
            <p:nvPr/>
          </p:nvSpPr>
          <p:spPr>
            <a:xfrm rot="-5400000">
              <a:off x="5417820" y="-5417820"/>
              <a:ext cx="137160" cy="10972800"/>
            </a:xfrm>
            <a:custGeom>
              <a:avLst/>
              <a:gdLst/>
              <a:ahLst/>
              <a:cxnLst/>
              <a:rect l="l" t="t" r="r" b="b"/>
              <a:pathLst>
                <a:path w="137160" h="10972800">
                  <a:moveTo>
                    <a:pt x="0" y="0"/>
                  </a:moveTo>
                  <a:lnTo>
                    <a:pt x="137160" y="0"/>
                  </a:lnTo>
                  <a:lnTo>
                    <a:pt x="13716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A354397-CA02-B991-7C7E-67F0E6724634}"/>
                </a:ext>
              </a:extLst>
            </p:cNvPr>
            <p:cNvSpPr/>
            <p:nvPr/>
          </p:nvSpPr>
          <p:spPr>
            <a:xfrm rot="-5400000">
              <a:off x="16054670" y="-5417820"/>
              <a:ext cx="137160" cy="10972800"/>
            </a:xfrm>
            <a:custGeom>
              <a:avLst/>
              <a:gdLst/>
              <a:ahLst/>
              <a:cxnLst/>
              <a:rect l="l" t="t" r="r" b="b"/>
              <a:pathLst>
                <a:path w="137160" h="10972800">
                  <a:moveTo>
                    <a:pt x="0" y="0"/>
                  </a:moveTo>
                  <a:lnTo>
                    <a:pt x="137160" y="0"/>
                  </a:lnTo>
                  <a:lnTo>
                    <a:pt x="13716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AutoShape 7">
            <a:extLst>
              <a:ext uri="{FF2B5EF4-FFF2-40B4-BE49-F238E27FC236}">
                <a16:creationId xmlns:a16="http://schemas.microsoft.com/office/drawing/2014/main" id="{689E22EB-A887-30B0-5BFC-7AAA000BF834}"/>
              </a:ext>
            </a:extLst>
          </p:cNvPr>
          <p:cNvSpPr/>
          <p:nvPr/>
        </p:nvSpPr>
        <p:spPr>
          <a:xfrm flipV="1">
            <a:off x="17121639" y="1132023"/>
            <a:ext cx="57150" cy="7203847"/>
          </a:xfrm>
          <a:prstGeom prst="line">
            <a:avLst/>
          </a:prstGeom>
          <a:ln w="114300" cap="flat">
            <a:solidFill>
              <a:srgbClr val="0D58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3307D818-BEE7-CE96-391B-49B2A360ACA5}"/>
              </a:ext>
            </a:extLst>
          </p:cNvPr>
          <p:cNvSpPr/>
          <p:nvPr/>
        </p:nvSpPr>
        <p:spPr>
          <a:xfrm flipH="1">
            <a:off x="979768" y="9258300"/>
            <a:ext cx="15021164" cy="0"/>
          </a:xfrm>
          <a:prstGeom prst="line">
            <a:avLst/>
          </a:prstGeom>
          <a:ln w="114300" cap="flat">
            <a:solidFill>
              <a:srgbClr val="0D58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F4A7CB1-8C60-6191-C0CC-ED16206D6CB1}"/>
              </a:ext>
            </a:extLst>
          </p:cNvPr>
          <p:cNvSpPr txBox="1"/>
          <p:nvPr/>
        </p:nvSpPr>
        <p:spPr>
          <a:xfrm>
            <a:off x="7023809" y="1220400"/>
            <a:ext cx="4468981" cy="5262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spc="-118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Protótipos</a:t>
            </a:r>
            <a:r>
              <a:rPr lang="en-US" sz="3200" b="1" spc="-118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de Interfaces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17CE867-4B70-CD72-BD86-B501C011E5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000" y="1891407"/>
            <a:ext cx="13417200" cy="71751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3362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51B2F-75DA-017E-BD4F-37148002F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2AD4FC7-FFF4-44F5-A732-AE750512E169}"/>
              </a:ext>
            </a:extLst>
          </p:cNvPr>
          <p:cNvSpPr/>
          <p:nvPr/>
        </p:nvSpPr>
        <p:spPr>
          <a:xfrm>
            <a:off x="16076215" y="8335870"/>
            <a:ext cx="1479340" cy="1479340"/>
          </a:xfrm>
          <a:custGeom>
            <a:avLst/>
            <a:gdLst/>
            <a:ahLst/>
            <a:cxnLst/>
            <a:rect l="l" t="t" r="r" b="b"/>
            <a:pathLst>
              <a:path w="1479340" h="1479340">
                <a:moveTo>
                  <a:pt x="0" y="0"/>
                </a:moveTo>
                <a:lnTo>
                  <a:pt x="1479340" y="0"/>
                </a:lnTo>
                <a:lnTo>
                  <a:pt x="1479340" y="1479340"/>
                </a:lnTo>
                <a:lnTo>
                  <a:pt x="0" y="1479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1564B5B-E901-35E3-DF7C-1911B0C7DC56}"/>
              </a:ext>
            </a:extLst>
          </p:cNvPr>
          <p:cNvSpPr/>
          <p:nvPr/>
        </p:nvSpPr>
        <p:spPr>
          <a:xfrm>
            <a:off x="979768" y="1028700"/>
            <a:ext cx="102870" cy="8229600"/>
          </a:xfrm>
          <a:custGeom>
            <a:avLst/>
            <a:gdLst/>
            <a:ahLst/>
            <a:cxnLst/>
            <a:rect l="l" t="t" r="r" b="b"/>
            <a:pathLst>
              <a:path w="102870" h="8229600">
                <a:moveTo>
                  <a:pt x="0" y="0"/>
                </a:moveTo>
                <a:lnTo>
                  <a:pt x="102870" y="0"/>
                </a:lnTo>
                <a:lnTo>
                  <a:pt x="10287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1C4EA3FD-6F31-C238-5C95-8D2A076DBA63}"/>
              </a:ext>
            </a:extLst>
          </p:cNvPr>
          <p:cNvGrpSpPr/>
          <p:nvPr/>
        </p:nvGrpSpPr>
        <p:grpSpPr>
          <a:xfrm>
            <a:off x="1028700" y="1028700"/>
            <a:ext cx="16207237" cy="102870"/>
            <a:chOff x="0" y="0"/>
            <a:chExt cx="21609650" cy="1371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0590398-9F14-64E1-BC0A-7628BCFA6FA7}"/>
                </a:ext>
              </a:extLst>
            </p:cNvPr>
            <p:cNvSpPr/>
            <p:nvPr/>
          </p:nvSpPr>
          <p:spPr>
            <a:xfrm rot="-5400000">
              <a:off x="5417820" y="-5417820"/>
              <a:ext cx="137160" cy="10972800"/>
            </a:xfrm>
            <a:custGeom>
              <a:avLst/>
              <a:gdLst/>
              <a:ahLst/>
              <a:cxnLst/>
              <a:rect l="l" t="t" r="r" b="b"/>
              <a:pathLst>
                <a:path w="137160" h="10972800">
                  <a:moveTo>
                    <a:pt x="0" y="0"/>
                  </a:moveTo>
                  <a:lnTo>
                    <a:pt x="137160" y="0"/>
                  </a:lnTo>
                  <a:lnTo>
                    <a:pt x="13716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7B1F0FC-31E6-0487-7771-978A1A89A8A4}"/>
                </a:ext>
              </a:extLst>
            </p:cNvPr>
            <p:cNvSpPr/>
            <p:nvPr/>
          </p:nvSpPr>
          <p:spPr>
            <a:xfrm rot="-5400000">
              <a:off x="16054670" y="-5417820"/>
              <a:ext cx="137160" cy="10972800"/>
            </a:xfrm>
            <a:custGeom>
              <a:avLst/>
              <a:gdLst/>
              <a:ahLst/>
              <a:cxnLst/>
              <a:rect l="l" t="t" r="r" b="b"/>
              <a:pathLst>
                <a:path w="137160" h="10972800">
                  <a:moveTo>
                    <a:pt x="0" y="0"/>
                  </a:moveTo>
                  <a:lnTo>
                    <a:pt x="137160" y="0"/>
                  </a:lnTo>
                  <a:lnTo>
                    <a:pt x="13716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AutoShape 7">
            <a:extLst>
              <a:ext uri="{FF2B5EF4-FFF2-40B4-BE49-F238E27FC236}">
                <a16:creationId xmlns:a16="http://schemas.microsoft.com/office/drawing/2014/main" id="{F33635A2-D7C0-6C14-D9C1-B0931E037E99}"/>
              </a:ext>
            </a:extLst>
          </p:cNvPr>
          <p:cNvSpPr/>
          <p:nvPr/>
        </p:nvSpPr>
        <p:spPr>
          <a:xfrm flipV="1">
            <a:off x="17121639" y="1132023"/>
            <a:ext cx="57150" cy="7203847"/>
          </a:xfrm>
          <a:prstGeom prst="line">
            <a:avLst/>
          </a:prstGeom>
          <a:ln w="114300" cap="flat">
            <a:solidFill>
              <a:srgbClr val="0D58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3B202998-8050-2CB7-3814-91A4A7463970}"/>
              </a:ext>
            </a:extLst>
          </p:cNvPr>
          <p:cNvSpPr/>
          <p:nvPr/>
        </p:nvSpPr>
        <p:spPr>
          <a:xfrm flipH="1">
            <a:off x="979768" y="9258300"/>
            <a:ext cx="15021164" cy="0"/>
          </a:xfrm>
          <a:prstGeom prst="line">
            <a:avLst/>
          </a:prstGeom>
          <a:ln w="114300" cap="flat">
            <a:solidFill>
              <a:srgbClr val="0D58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F6EEC9E-D20E-E07F-AF86-D8AAE6759132}"/>
              </a:ext>
            </a:extLst>
          </p:cNvPr>
          <p:cNvSpPr txBox="1"/>
          <p:nvPr/>
        </p:nvSpPr>
        <p:spPr>
          <a:xfrm>
            <a:off x="7023809" y="1220400"/>
            <a:ext cx="4468981" cy="5262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spc="-118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Protótipos</a:t>
            </a:r>
            <a:r>
              <a:rPr lang="en-US" sz="3200" b="1" spc="-118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de Interfaces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4F892BE-B6D8-BB1D-7D70-88568FEEAE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000" y="1890000"/>
            <a:ext cx="13417200" cy="72622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12022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33627-1704-6CBB-8D15-744BE0532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35318AF-3413-F6DF-87FC-617640A17081}"/>
              </a:ext>
            </a:extLst>
          </p:cNvPr>
          <p:cNvSpPr/>
          <p:nvPr/>
        </p:nvSpPr>
        <p:spPr>
          <a:xfrm>
            <a:off x="16076215" y="8335870"/>
            <a:ext cx="1479340" cy="1479340"/>
          </a:xfrm>
          <a:custGeom>
            <a:avLst/>
            <a:gdLst/>
            <a:ahLst/>
            <a:cxnLst/>
            <a:rect l="l" t="t" r="r" b="b"/>
            <a:pathLst>
              <a:path w="1479340" h="1479340">
                <a:moveTo>
                  <a:pt x="0" y="0"/>
                </a:moveTo>
                <a:lnTo>
                  <a:pt x="1479340" y="0"/>
                </a:lnTo>
                <a:lnTo>
                  <a:pt x="1479340" y="1479340"/>
                </a:lnTo>
                <a:lnTo>
                  <a:pt x="0" y="1479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1DA422E-D777-43C1-BA79-79BE0B1B7088}"/>
              </a:ext>
            </a:extLst>
          </p:cNvPr>
          <p:cNvSpPr/>
          <p:nvPr/>
        </p:nvSpPr>
        <p:spPr>
          <a:xfrm>
            <a:off x="979768" y="1028700"/>
            <a:ext cx="102870" cy="8229600"/>
          </a:xfrm>
          <a:custGeom>
            <a:avLst/>
            <a:gdLst/>
            <a:ahLst/>
            <a:cxnLst/>
            <a:rect l="l" t="t" r="r" b="b"/>
            <a:pathLst>
              <a:path w="102870" h="8229600">
                <a:moveTo>
                  <a:pt x="0" y="0"/>
                </a:moveTo>
                <a:lnTo>
                  <a:pt x="102870" y="0"/>
                </a:lnTo>
                <a:lnTo>
                  <a:pt x="10287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14682E60-9DD5-ED6D-CAAC-BC552D092B01}"/>
              </a:ext>
            </a:extLst>
          </p:cNvPr>
          <p:cNvGrpSpPr/>
          <p:nvPr/>
        </p:nvGrpSpPr>
        <p:grpSpPr>
          <a:xfrm>
            <a:off x="1028700" y="1028700"/>
            <a:ext cx="16207237" cy="102870"/>
            <a:chOff x="0" y="0"/>
            <a:chExt cx="21609650" cy="1371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695C8D3-8AD5-80BC-47F1-80657745B630}"/>
                </a:ext>
              </a:extLst>
            </p:cNvPr>
            <p:cNvSpPr/>
            <p:nvPr/>
          </p:nvSpPr>
          <p:spPr>
            <a:xfrm rot="-5400000">
              <a:off x="5417820" y="-5417820"/>
              <a:ext cx="137160" cy="10972800"/>
            </a:xfrm>
            <a:custGeom>
              <a:avLst/>
              <a:gdLst/>
              <a:ahLst/>
              <a:cxnLst/>
              <a:rect l="l" t="t" r="r" b="b"/>
              <a:pathLst>
                <a:path w="137160" h="10972800">
                  <a:moveTo>
                    <a:pt x="0" y="0"/>
                  </a:moveTo>
                  <a:lnTo>
                    <a:pt x="137160" y="0"/>
                  </a:lnTo>
                  <a:lnTo>
                    <a:pt x="13716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D97EA40-6FD4-DA66-3597-BE8C08C09EDF}"/>
                </a:ext>
              </a:extLst>
            </p:cNvPr>
            <p:cNvSpPr/>
            <p:nvPr/>
          </p:nvSpPr>
          <p:spPr>
            <a:xfrm rot="-5400000">
              <a:off x="16054670" y="-5417820"/>
              <a:ext cx="137160" cy="10972800"/>
            </a:xfrm>
            <a:custGeom>
              <a:avLst/>
              <a:gdLst/>
              <a:ahLst/>
              <a:cxnLst/>
              <a:rect l="l" t="t" r="r" b="b"/>
              <a:pathLst>
                <a:path w="137160" h="10972800">
                  <a:moveTo>
                    <a:pt x="0" y="0"/>
                  </a:moveTo>
                  <a:lnTo>
                    <a:pt x="137160" y="0"/>
                  </a:lnTo>
                  <a:lnTo>
                    <a:pt x="13716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AutoShape 7">
            <a:extLst>
              <a:ext uri="{FF2B5EF4-FFF2-40B4-BE49-F238E27FC236}">
                <a16:creationId xmlns:a16="http://schemas.microsoft.com/office/drawing/2014/main" id="{373CFEF3-23B5-0F3A-C999-E844F30A0815}"/>
              </a:ext>
            </a:extLst>
          </p:cNvPr>
          <p:cNvSpPr/>
          <p:nvPr/>
        </p:nvSpPr>
        <p:spPr>
          <a:xfrm flipV="1">
            <a:off x="17121639" y="1132023"/>
            <a:ext cx="57150" cy="7203847"/>
          </a:xfrm>
          <a:prstGeom prst="line">
            <a:avLst/>
          </a:prstGeom>
          <a:ln w="114300" cap="flat">
            <a:solidFill>
              <a:srgbClr val="0D58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7D41E466-EFF2-6E5A-223F-E2B4650832F7}"/>
              </a:ext>
            </a:extLst>
          </p:cNvPr>
          <p:cNvSpPr/>
          <p:nvPr/>
        </p:nvSpPr>
        <p:spPr>
          <a:xfrm flipH="1">
            <a:off x="979768" y="9258300"/>
            <a:ext cx="15021164" cy="0"/>
          </a:xfrm>
          <a:prstGeom prst="line">
            <a:avLst/>
          </a:prstGeom>
          <a:ln w="114300" cap="flat">
            <a:solidFill>
              <a:srgbClr val="0D58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E3DE97D-F7C6-BC10-59B5-D40E326F7085}"/>
              </a:ext>
            </a:extLst>
          </p:cNvPr>
          <p:cNvSpPr txBox="1"/>
          <p:nvPr/>
        </p:nvSpPr>
        <p:spPr>
          <a:xfrm>
            <a:off x="7023809" y="1220400"/>
            <a:ext cx="4468981" cy="5262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spc="-118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Protótipos</a:t>
            </a:r>
            <a:r>
              <a:rPr lang="en-US" sz="3200" b="1" spc="-118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de Interfaces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35BA8999-72E2-D443-071F-B8D5E728D0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000" y="1890000"/>
            <a:ext cx="13417200" cy="71751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6678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AE333-2204-EC2E-3FF7-09117FB7C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454FCF0-7F48-08F3-398C-7385F8A1BE53}"/>
              </a:ext>
            </a:extLst>
          </p:cNvPr>
          <p:cNvSpPr/>
          <p:nvPr/>
        </p:nvSpPr>
        <p:spPr>
          <a:xfrm>
            <a:off x="16076215" y="8335870"/>
            <a:ext cx="1479340" cy="1479340"/>
          </a:xfrm>
          <a:custGeom>
            <a:avLst/>
            <a:gdLst/>
            <a:ahLst/>
            <a:cxnLst/>
            <a:rect l="l" t="t" r="r" b="b"/>
            <a:pathLst>
              <a:path w="1479340" h="1479340">
                <a:moveTo>
                  <a:pt x="0" y="0"/>
                </a:moveTo>
                <a:lnTo>
                  <a:pt x="1479340" y="0"/>
                </a:lnTo>
                <a:lnTo>
                  <a:pt x="1479340" y="1479340"/>
                </a:lnTo>
                <a:lnTo>
                  <a:pt x="0" y="1479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3055299-895C-85AE-C29C-0316CE3E57F3}"/>
              </a:ext>
            </a:extLst>
          </p:cNvPr>
          <p:cNvSpPr/>
          <p:nvPr/>
        </p:nvSpPr>
        <p:spPr>
          <a:xfrm>
            <a:off x="979768" y="1028700"/>
            <a:ext cx="102870" cy="8229600"/>
          </a:xfrm>
          <a:custGeom>
            <a:avLst/>
            <a:gdLst/>
            <a:ahLst/>
            <a:cxnLst/>
            <a:rect l="l" t="t" r="r" b="b"/>
            <a:pathLst>
              <a:path w="102870" h="8229600">
                <a:moveTo>
                  <a:pt x="0" y="0"/>
                </a:moveTo>
                <a:lnTo>
                  <a:pt x="102870" y="0"/>
                </a:lnTo>
                <a:lnTo>
                  <a:pt x="10287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9406256-F0A4-95C1-8268-B013F8D77BE0}"/>
              </a:ext>
            </a:extLst>
          </p:cNvPr>
          <p:cNvGrpSpPr/>
          <p:nvPr/>
        </p:nvGrpSpPr>
        <p:grpSpPr>
          <a:xfrm>
            <a:off x="1028700" y="1028700"/>
            <a:ext cx="16207237" cy="102870"/>
            <a:chOff x="0" y="0"/>
            <a:chExt cx="21609650" cy="1371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A856221-D327-3D84-3375-06500662C277}"/>
                </a:ext>
              </a:extLst>
            </p:cNvPr>
            <p:cNvSpPr/>
            <p:nvPr/>
          </p:nvSpPr>
          <p:spPr>
            <a:xfrm rot="-5400000">
              <a:off x="5417820" y="-5417820"/>
              <a:ext cx="137160" cy="10972800"/>
            </a:xfrm>
            <a:custGeom>
              <a:avLst/>
              <a:gdLst/>
              <a:ahLst/>
              <a:cxnLst/>
              <a:rect l="l" t="t" r="r" b="b"/>
              <a:pathLst>
                <a:path w="137160" h="10972800">
                  <a:moveTo>
                    <a:pt x="0" y="0"/>
                  </a:moveTo>
                  <a:lnTo>
                    <a:pt x="137160" y="0"/>
                  </a:lnTo>
                  <a:lnTo>
                    <a:pt x="13716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5C81EE5-1BF7-7772-A032-42A9E73E83C7}"/>
                </a:ext>
              </a:extLst>
            </p:cNvPr>
            <p:cNvSpPr/>
            <p:nvPr/>
          </p:nvSpPr>
          <p:spPr>
            <a:xfrm rot="-5400000">
              <a:off x="16054670" y="-5417820"/>
              <a:ext cx="137160" cy="10972800"/>
            </a:xfrm>
            <a:custGeom>
              <a:avLst/>
              <a:gdLst/>
              <a:ahLst/>
              <a:cxnLst/>
              <a:rect l="l" t="t" r="r" b="b"/>
              <a:pathLst>
                <a:path w="137160" h="10972800">
                  <a:moveTo>
                    <a:pt x="0" y="0"/>
                  </a:moveTo>
                  <a:lnTo>
                    <a:pt x="137160" y="0"/>
                  </a:lnTo>
                  <a:lnTo>
                    <a:pt x="13716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AutoShape 7">
            <a:extLst>
              <a:ext uri="{FF2B5EF4-FFF2-40B4-BE49-F238E27FC236}">
                <a16:creationId xmlns:a16="http://schemas.microsoft.com/office/drawing/2014/main" id="{3A51FCA1-4601-3A5A-ACE3-49564567A7BC}"/>
              </a:ext>
            </a:extLst>
          </p:cNvPr>
          <p:cNvSpPr/>
          <p:nvPr/>
        </p:nvSpPr>
        <p:spPr>
          <a:xfrm flipV="1">
            <a:off x="17121639" y="1132023"/>
            <a:ext cx="57150" cy="7203847"/>
          </a:xfrm>
          <a:prstGeom prst="line">
            <a:avLst/>
          </a:prstGeom>
          <a:ln w="114300" cap="flat">
            <a:solidFill>
              <a:srgbClr val="0D58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7984C871-E38C-8051-4ACB-84A2BE8D6EEF}"/>
              </a:ext>
            </a:extLst>
          </p:cNvPr>
          <p:cNvSpPr/>
          <p:nvPr/>
        </p:nvSpPr>
        <p:spPr>
          <a:xfrm flipH="1">
            <a:off x="979768" y="9258300"/>
            <a:ext cx="15021164" cy="0"/>
          </a:xfrm>
          <a:prstGeom prst="line">
            <a:avLst/>
          </a:prstGeom>
          <a:ln w="114300" cap="flat">
            <a:solidFill>
              <a:srgbClr val="0D58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5EB2A61-3612-41B0-2CA7-FED0A2D5EAC2}"/>
              </a:ext>
            </a:extLst>
          </p:cNvPr>
          <p:cNvSpPr txBox="1"/>
          <p:nvPr/>
        </p:nvSpPr>
        <p:spPr>
          <a:xfrm>
            <a:off x="7023809" y="1220400"/>
            <a:ext cx="4468981" cy="5262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spc="-118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Protótipos</a:t>
            </a:r>
            <a:r>
              <a:rPr lang="en-US" sz="3200" b="1" spc="-118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de Interfaces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E039623A-C1DE-5375-20B7-0B0FAD26D0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000" y="1890000"/>
            <a:ext cx="13417200" cy="72547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755447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74CC8-FF87-D2C8-F7CD-9B6A0CB87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869760D-6EBA-DDDA-9085-F1AA4112F1EA}"/>
              </a:ext>
            </a:extLst>
          </p:cNvPr>
          <p:cNvSpPr/>
          <p:nvPr/>
        </p:nvSpPr>
        <p:spPr>
          <a:xfrm>
            <a:off x="16076215" y="8335870"/>
            <a:ext cx="1479340" cy="1479340"/>
          </a:xfrm>
          <a:custGeom>
            <a:avLst/>
            <a:gdLst/>
            <a:ahLst/>
            <a:cxnLst/>
            <a:rect l="l" t="t" r="r" b="b"/>
            <a:pathLst>
              <a:path w="1479340" h="1479340">
                <a:moveTo>
                  <a:pt x="0" y="0"/>
                </a:moveTo>
                <a:lnTo>
                  <a:pt x="1479340" y="0"/>
                </a:lnTo>
                <a:lnTo>
                  <a:pt x="1479340" y="1479340"/>
                </a:lnTo>
                <a:lnTo>
                  <a:pt x="0" y="1479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143108F-DE9D-B3E1-FFE7-773847498204}"/>
              </a:ext>
            </a:extLst>
          </p:cNvPr>
          <p:cNvSpPr/>
          <p:nvPr/>
        </p:nvSpPr>
        <p:spPr>
          <a:xfrm>
            <a:off x="979768" y="1028700"/>
            <a:ext cx="102870" cy="8229600"/>
          </a:xfrm>
          <a:custGeom>
            <a:avLst/>
            <a:gdLst/>
            <a:ahLst/>
            <a:cxnLst/>
            <a:rect l="l" t="t" r="r" b="b"/>
            <a:pathLst>
              <a:path w="102870" h="8229600">
                <a:moveTo>
                  <a:pt x="0" y="0"/>
                </a:moveTo>
                <a:lnTo>
                  <a:pt x="102870" y="0"/>
                </a:lnTo>
                <a:lnTo>
                  <a:pt x="10287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A2C158F-09D0-EC4A-5028-66CFB0F564E9}"/>
              </a:ext>
            </a:extLst>
          </p:cNvPr>
          <p:cNvGrpSpPr/>
          <p:nvPr/>
        </p:nvGrpSpPr>
        <p:grpSpPr>
          <a:xfrm>
            <a:off x="1028700" y="1028700"/>
            <a:ext cx="16207237" cy="102870"/>
            <a:chOff x="0" y="0"/>
            <a:chExt cx="21609650" cy="1371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05768D1-709D-4AFB-454A-61855D898B04}"/>
                </a:ext>
              </a:extLst>
            </p:cNvPr>
            <p:cNvSpPr/>
            <p:nvPr/>
          </p:nvSpPr>
          <p:spPr>
            <a:xfrm rot="-5400000">
              <a:off x="5417820" y="-5417820"/>
              <a:ext cx="137160" cy="10972800"/>
            </a:xfrm>
            <a:custGeom>
              <a:avLst/>
              <a:gdLst/>
              <a:ahLst/>
              <a:cxnLst/>
              <a:rect l="l" t="t" r="r" b="b"/>
              <a:pathLst>
                <a:path w="137160" h="10972800">
                  <a:moveTo>
                    <a:pt x="0" y="0"/>
                  </a:moveTo>
                  <a:lnTo>
                    <a:pt x="137160" y="0"/>
                  </a:lnTo>
                  <a:lnTo>
                    <a:pt x="13716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BEE1BE3-C5E8-3722-BF7A-7924EA1E7267}"/>
                </a:ext>
              </a:extLst>
            </p:cNvPr>
            <p:cNvSpPr/>
            <p:nvPr/>
          </p:nvSpPr>
          <p:spPr>
            <a:xfrm rot="-5400000">
              <a:off x="16054670" y="-5417820"/>
              <a:ext cx="137160" cy="10972800"/>
            </a:xfrm>
            <a:custGeom>
              <a:avLst/>
              <a:gdLst/>
              <a:ahLst/>
              <a:cxnLst/>
              <a:rect l="l" t="t" r="r" b="b"/>
              <a:pathLst>
                <a:path w="137160" h="10972800">
                  <a:moveTo>
                    <a:pt x="0" y="0"/>
                  </a:moveTo>
                  <a:lnTo>
                    <a:pt x="137160" y="0"/>
                  </a:lnTo>
                  <a:lnTo>
                    <a:pt x="13716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AutoShape 7">
            <a:extLst>
              <a:ext uri="{FF2B5EF4-FFF2-40B4-BE49-F238E27FC236}">
                <a16:creationId xmlns:a16="http://schemas.microsoft.com/office/drawing/2014/main" id="{1F3E3EF0-E54C-5121-61AF-F55E9C8551D0}"/>
              </a:ext>
            </a:extLst>
          </p:cNvPr>
          <p:cNvSpPr/>
          <p:nvPr/>
        </p:nvSpPr>
        <p:spPr>
          <a:xfrm flipV="1">
            <a:off x="17121639" y="1132023"/>
            <a:ext cx="57150" cy="7203847"/>
          </a:xfrm>
          <a:prstGeom prst="line">
            <a:avLst/>
          </a:prstGeom>
          <a:ln w="114300" cap="flat">
            <a:solidFill>
              <a:srgbClr val="0D58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93B9E58B-FCFA-6648-F71C-C28B6BCD2D8C}"/>
              </a:ext>
            </a:extLst>
          </p:cNvPr>
          <p:cNvSpPr/>
          <p:nvPr/>
        </p:nvSpPr>
        <p:spPr>
          <a:xfrm flipH="1">
            <a:off x="979768" y="9258300"/>
            <a:ext cx="15021164" cy="0"/>
          </a:xfrm>
          <a:prstGeom prst="line">
            <a:avLst/>
          </a:prstGeom>
          <a:ln w="114300" cap="flat">
            <a:solidFill>
              <a:srgbClr val="0D58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0B4A469-0CD5-BF28-CB1B-3EDF50D9F4DE}"/>
              </a:ext>
            </a:extLst>
          </p:cNvPr>
          <p:cNvSpPr txBox="1"/>
          <p:nvPr/>
        </p:nvSpPr>
        <p:spPr>
          <a:xfrm>
            <a:off x="7023809" y="1220400"/>
            <a:ext cx="4468981" cy="5262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spc="-118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Protótipos</a:t>
            </a:r>
            <a:r>
              <a:rPr lang="en-US" sz="3200" b="1" spc="-118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de Interfaces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2B30422B-39B5-3D20-995F-2CE10C330C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4000" y="1890000"/>
            <a:ext cx="13417200" cy="7248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503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43D86-9111-30C5-A54C-14BF619C4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EDB0AFB-70AA-19A8-53DB-FAE01FD6BE48}"/>
              </a:ext>
            </a:extLst>
          </p:cNvPr>
          <p:cNvSpPr/>
          <p:nvPr/>
        </p:nvSpPr>
        <p:spPr>
          <a:xfrm>
            <a:off x="16076215" y="8335870"/>
            <a:ext cx="1479340" cy="1479340"/>
          </a:xfrm>
          <a:custGeom>
            <a:avLst/>
            <a:gdLst/>
            <a:ahLst/>
            <a:cxnLst/>
            <a:rect l="l" t="t" r="r" b="b"/>
            <a:pathLst>
              <a:path w="1479340" h="1479340">
                <a:moveTo>
                  <a:pt x="0" y="0"/>
                </a:moveTo>
                <a:lnTo>
                  <a:pt x="1479340" y="0"/>
                </a:lnTo>
                <a:lnTo>
                  <a:pt x="1479340" y="1479340"/>
                </a:lnTo>
                <a:lnTo>
                  <a:pt x="0" y="1479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CE0875F-ED47-3115-5B14-12EB4367CA66}"/>
              </a:ext>
            </a:extLst>
          </p:cNvPr>
          <p:cNvSpPr/>
          <p:nvPr/>
        </p:nvSpPr>
        <p:spPr>
          <a:xfrm>
            <a:off x="979768" y="1028700"/>
            <a:ext cx="102870" cy="8229600"/>
          </a:xfrm>
          <a:custGeom>
            <a:avLst/>
            <a:gdLst/>
            <a:ahLst/>
            <a:cxnLst/>
            <a:rect l="l" t="t" r="r" b="b"/>
            <a:pathLst>
              <a:path w="102870" h="8229600">
                <a:moveTo>
                  <a:pt x="0" y="0"/>
                </a:moveTo>
                <a:lnTo>
                  <a:pt x="102870" y="0"/>
                </a:lnTo>
                <a:lnTo>
                  <a:pt x="10287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829D6F4-32F7-6EFA-FDE7-69768147CB88}"/>
              </a:ext>
            </a:extLst>
          </p:cNvPr>
          <p:cNvGrpSpPr/>
          <p:nvPr/>
        </p:nvGrpSpPr>
        <p:grpSpPr>
          <a:xfrm>
            <a:off x="1028700" y="1028700"/>
            <a:ext cx="16207237" cy="102870"/>
            <a:chOff x="0" y="0"/>
            <a:chExt cx="21609650" cy="1371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771AA95-3CD3-C84F-166B-96A03639E684}"/>
                </a:ext>
              </a:extLst>
            </p:cNvPr>
            <p:cNvSpPr/>
            <p:nvPr/>
          </p:nvSpPr>
          <p:spPr>
            <a:xfrm rot="-5400000">
              <a:off x="5417820" y="-5417820"/>
              <a:ext cx="137160" cy="10972800"/>
            </a:xfrm>
            <a:custGeom>
              <a:avLst/>
              <a:gdLst/>
              <a:ahLst/>
              <a:cxnLst/>
              <a:rect l="l" t="t" r="r" b="b"/>
              <a:pathLst>
                <a:path w="137160" h="10972800">
                  <a:moveTo>
                    <a:pt x="0" y="0"/>
                  </a:moveTo>
                  <a:lnTo>
                    <a:pt x="137160" y="0"/>
                  </a:lnTo>
                  <a:lnTo>
                    <a:pt x="13716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3A63240-6860-4515-E298-07C39B6E48E2}"/>
                </a:ext>
              </a:extLst>
            </p:cNvPr>
            <p:cNvSpPr/>
            <p:nvPr/>
          </p:nvSpPr>
          <p:spPr>
            <a:xfrm rot="-5400000">
              <a:off x="16054670" y="-5417820"/>
              <a:ext cx="137160" cy="10972800"/>
            </a:xfrm>
            <a:custGeom>
              <a:avLst/>
              <a:gdLst/>
              <a:ahLst/>
              <a:cxnLst/>
              <a:rect l="l" t="t" r="r" b="b"/>
              <a:pathLst>
                <a:path w="137160" h="10972800">
                  <a:moveTo>
                    <a:pt x="0" y="0"/>
                  </a:moveTo>
                  <a:lnTo>
                    <a:pt x="137160" y="0"/>
                  </a:lnTo>
                  <a:lnTo>
                    <a:pt x="13716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AutoShape 7">
            <a:extLst>
              <a:ext uri="{FF2B5EF4-FFF2-40B4-BE49-F238E27FC236}">
                <a16:creationId xmlns:a16="http://schemas.microsoft.com/office/drawing/2014/main" id="{F1630FB3-0071-FE41-845A-B32BA508F498}"/>
              </a:ext>
            </a:extLst>
          </p:cNvPr>
          <p:cNvSpPr/>
          <p:nvPr/>
        </p:nvSpPr>
        <p:spPr>
          <a:xfrm flipV="1">
            <a:off x="17121639" y="1132023"/>
            <a:ext cx="57150" cy="7203847"/>
          </a:xfrm>
          <a:prstGeom prst="line">
            <a:avLst/>
          </a:prstGeom>
          <a:ln w="114300" cap="flat">
            <a:solidFill>
              <a:srgbClr val="0D58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1DC3424F-5B62-B1B7-3DFD-3D80DA7B34BF}"/>
              </a:ext>
            </a:extLst>
          </p:cNvPr>
          <p:cNvSpPr/>
          <p:nvPr/>
        </p:nvSpPr>
        <p:spPr>
          <a:xfrm flipH="1">
            <a:off x="979768" y="9258300"/>
            <a:ext cx="15021164" cy="0"/>
          </a:xfrm>
          <a:prstGeom prst="line">
            <a:avLst/>
          </a:prstGeom>
          <a:ln w="114300" cap="flat">
            <a:solidFill>
              <a:srgbClr val="0D58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2F01BC4-91ED-B54F-F49F-2A2876B3682B}"/>
              </a:ext>
            </a:extLst>
          </p:cNvPr>
          <p:cNvSpPr txBox="1"/>
          <p:nvPr/>
        </p:nvSpPr>
        <p:spPr>
          <a:xfrm>
            <a:off x="7023809" y="1220400"/>
            <a:ext cx="4468981" cy="5262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spc="-118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Protótipos</a:t>
            </a:r>
            <a:r>
              <a:rPr lang="en-US" sz="3200" b="1" spc="-118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de Interfaces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C816F6AD-84C2-E347-FF07-07C295FFE1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4000" y="1890000"/>
            <a:ext cx="13417200" cy="4664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4246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36F27-4ABD-A203-317D-6962718CB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D3B1B6C-FEE6-F023-6CB4-43AFBB3A90CF}"/>
              </a:ext>
            </a:extLst>
          </p:cNvPr>
          <p:cNvSpPr/>
          <p:nvPr/>
        </p:nvSpPr>
        <p:spPr>
          <a:xfrm>
            <a:off x="16076215" y="8335870"/>
            <a:ext cx="1479340" cy="1479340"/>
          </a:xfrm>
          <a:custGeom>
            <a:avLst/>
            <a:gdLst/>
            <a:ahLst/>
            <a:cxnLst/>
            <a:rect l="l" t="t" r="r" b="b"/>
            <a:pathLst>
              <a:path w="1479340" h="1479340">
                <a:moveTo>
                  <a:pt x="0" y="0"/>
                </a:moveTo>
                <a:lnTo>
                  <a:pt x="1479340" y="0"/>
                </a:lnTo>
                <a:lnTo>
                  <a:pt x="1479340" y="1479340"/>
                </a:lnTo>
                <a:lnTo>
                  <a:pt x="0" y="1479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A174A0C-85B8-ABF9-AB29-CD016BACAC94}"/>
              </a:ext>
            </a:extLst>
          </p:cNvPr>
          <p:cNvSpPr/>
          <p:nvPr/>
        </p:nvSpPr>
        <p:spPr>
          <a:xfrm>
            <a:off x="979768" y="1028700"/>
            <a:ext cx="102870" cy="8229600"/>
          </a:xfrm>
          <a:custGeom>
            <a:avLst/>
            <a:gdLst/>
            <a:ahLst/>
            <a:cxnLst/>
            <a:rect l="l" t="t" r="r" b="b"/>
            <a:pathLst>
              <a:path w="102870" h="8229600">
                <a:moveTo>
                  <a:pt x="0" y="0"/>
                </a:moveTo>
                <a:lnTo>
                  <a:pt x="102870" y="0"/>
                </a:lnTo>
                <a:lnTo>
                  <a:pt x="10287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96EACD13-BE67-CC2A-72FF-0FC9ABEC9DDC}"/>
              </a:ext>
            </a:extLst>
          </p:cNvPr>
          <p:cNvGrpSpPr/>
          <p:nvPr/>
        </p:nvGrpSpPr>
        <p:grpSpPr>
          <a:xfrm>
            <a:off x="1028700" y="1028700"/>
            <a:ext cx="16207237" cy="102870"/>
            <a:chOff x="0" y="0"/>
            <a:chExt cx="21609650" cy="1371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5792824-0464-9892-79CF-7DC539631D19}"/>
                </a:ext>
              </a:extLst>
            </p:cNvPr>
            <p:cNvSpPr/>
            <p:nvPr/>
          </p:nvSpPr>
          <p:spPr>
            <a:xfrm rot="-5400000">
              <a:off x="5417820" y="-5417820"/>
              <a:ext cx="137160" cy="10972800"/>
            </a:xfrm>
            <a:custGeom>
              <a:avLst/>
              <a:gdLst/>
              <a:ahLst/>
              <a:cxnLst/>
              <a:rect l="l" t="t" r="r" b="b"/>
              <a:pathLst>
                <a:path w="137160" h="10972800">
                  <a:moveTo>
                    <a:pt x="0" y="0"/>
                  </a:moveTo>
                  <a:lnTo>
                    <a:pt x="137160" y="0"/>
                  </a:lnTo>
                  <a:lnTo>
                    <a:pt x="13716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44428E5-9C3A-2008-93FA-3B7ADDD89D4A}"/>
                </a:ext>
              </a:extLst>
            </p:cNvPr>
            <p:cNvSpPr/>
            <p:nvPr/>
          </p:nvSpPr>
          <p:spPr>
            <a:xfrm rot="-5400000">
              <a:off x="16054670" y="-5417820"/>
              <a:ext cx="137160" cy="10972800"/>
            </a:xfrm>
            <a:custGeom>
              <a:avLst/>
              <a:gdLst/>
              <a:ahLst/>
              <a:cxnLst/>
              <a:rect l="l" t="t" r="r" b="b"/>
              <a:pathLst>
                <a:path w="137160" h="10972800">
                  <a:moveTo>
                    <a:pt x="0" y="0"/>
                  </a:moveTo>
                  <a:lnTo>
                    <a:pt x="137160" y="0"/>
                  </a:lnTo>
                  <a:lnTo>
                    <a:pt x="13716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AutoShape 7">
            <a:extLst>
              <a:ext uri="{FF2B5EF4-FFF2-40B4-BE49-F238E27FC236}">
                <a16:creationId xmlns:a16="http://schemas.microsoft.com/office/drawing/2014/main" id="{0CF07799-F941-E4A7-2236-9DCDE0AA003A}"/>
              </a:ext>
            </a:extLst>
          </p:cNvPr>
          <p:cNvSpPr/>
          <p:nvPr/>
        </p:nvSpPr>
        <p:spPr>
          <a:xfrm flipV="1">
            <a:off x="17121639" y="1132023"/>
            <a:ext cx="57150" cy="7203847"/>
          </a:xfrm>
          <a:prstGeom prst="line">
            <a:avLst/>
          </a:prstGeom>
          <a:ln w="114300" cap="flat">
            <a:solidFill>
              <a:srgbClr val="0D58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3A2D074D-29A8-8EB9-E120-BBD2F8CAD5D2}"/>
              </a:ext>
            </a:extLst>
          </p:cNvPr>
          <p:cNvSpPr/>
          <p:nvPr/>
        </p:nvSpPr>
        <p:spPr>
          <a:xfrm flipH="1">
            <a:off x="979768" y="9258300"/>
            <a:ext cx="15021164" cy="0"/>
          </a:xfrm>
          <a:prstGeom prst="line">
            <a:avLst/>
          </a:prstGeom>
          <a:ln w="114300" cap="flat">
            <a:solidFill>
              <a:srgbClr val="0D58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87D8D51-541A-8ADD-8A1F-5BA1E20E2B03}"/>
              </a:ext>
            </a:extLst>
          </p:cNvPr>
          <p:cNvSpPr txBox="1"/>
          <p:nvPr/>
        </p:nvSpPr>
        <p:spPr>
          <a:xfrm>
            <a:off x="7023809" y="1220400"/>
            <a:ext cx="4468981" cy="5262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spc="-118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Protótipos</a:t>
            </a:r>
            <a:r>
              <a:rPr lang="en-US" sz="3200" b="1" spc="-118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de Interfaces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6142D49B-E550-40EF-4CF8-D57235E23E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4000" y="1890000"/>
            <a:ext cx="13417200" cy="7261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0815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98915-0B30-D6EF-0A8D-EE527AF57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29280DA-40EE-2AEC-9C91-236E87D4E411}"/>
              </a:ext>
            </a:extLst>
          </p:cNvPr>
          <p:cNvSpPr/>
          <p:nvPr/>
        </p:nvSpPr>
        <p:spPr>
          <a:xfrm>
            <a:off x="16076215" y="8335870"/>
            <a:ext cx="1479340" cy="1479340"/>
          </a:xfrm>
          <a:custGeom>
            <a:avLst/>
            <a:gdLst/>
            <a:ahLst/>
            <a:cxnLst/>
            <a:rect l="l" t="t" r="r" b="b"/>
            <a:pathLst>
              <a:path w="1479340" h="1479340">
                <a:moveTo>
                  <a:pt x="0" y="0"/>
                </a:moveTo>
                <a:lnTo>
                  <a:pt x="1479340" y="0"/>
                </a:lnTo>
                <a:lnTo>
                  <a:pt x="1479340" y="1479340"/>
                </a:lnTo>
                <a:lnTo>
                  <a:pt x="0" y="1479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1B86AE8-0817-B9C1-742F-CBA336AB60A4}"/>
              </a:ext>
            </a:extLst>
          </p:cNvPr>
          <p:cNvSpPr/>
          <p:nvPr/>
        </p:nvSpPr>
        <p:spPr>
          <a:xfrm>
            <a:off x="979768" y="1028700"/>
            <a:ext cx="102870" cy="8229600"/>
          </a:xfrm>
          <a:custGeom>
            <a:avLst/>
            <a:gdLst/>
            <a:ahLst/>
            <a:cxnLst/>
            <a:rect l="l" t="t" r="r" b="b"/>
            <a:pathLst>
              <a:path w="102870" h="8229600">
                <a:moveTo>
                  <a:pt x="0" y="0"/>
                </a:moveTo>
                <a:lnTo>
                  <a:pt x="102870" y="0"/>
                </a:lnTo>
                <a:lnTo>
                  <a:pt x="10287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3BE8DD24-3BFB-93E0-12E5-1F8C8DA95CF0}"/>
              </a:ext>
            </a:extLst>
          </p:cNvPr>
          <p:cNvGrpSpPr/>
          <p:nvPr/>
        </p:nvGrpSpPr>
        <p:grpSpPr>
          <a:xfrm>
            <a:off x="1028700" y="1028700"/>
            <a:ext cx="16207237" cy="102870"/>
            <a:chOff x="0" y="0"/>
            <a:chExt cx="21609650" cy="1371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314F638-F663-60FE-4611-A05CF5A2F9D3}"/>
                </a:ext>
              </a:extLst>
            </p:cNvPr>
            <p:cNvSpPr/>
            <p:nvPr/>
          </p:nvSpPr>
          <p:spPr>
            <a:xfrm rot="-5400000">
              <a:off x="5417820" y="-5417820"/>
              <a:ext cx="137160" cy="10972800"/>
            </a:xfrm>
            <a:custGeom>
              <a:avLst/>
              <a:gdLst/>
              <a:ahLst/>
              <a:cxnLst/>
              <a:rect l="l" t="t" r="r" b="b"/>
              <a:pathLst>
                <a:path w="137160" h="10972800">
                  <a:moveTo>
                    <a:pt x="0" y="0"/>
                  </a:moveTo>
                  <a:lnTo>
                    <a:pt x="137160" y="0"/>
                  </a:lnTo>
                  <a:lnTo>
                    <a:pt x="13716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4F65C5C-1CAE-3085-1B6E-25945337A582}"/>
                </a:ext>
              </a:extLst>
            </p:cNvPr>
            <p:cNvSpPr/>
            <p:nvPr/>
          </p:nvSpPr>
          <p:spPr>
            <a:xfrm rot="-5400000">
              <a:off x="16054670" y="-5417820"/>
              <a:ext cx="137160" cy="10972800"/>
            </a:xfrm>
            <a:custGeom>
              <a:avLst/>
              <a:gdLst/>
              <a:ahLst/>
              <a:cxnLst/>
              <a:rect l="l" t="t" r="r" b="b"/>
              <a:pathLst>
                <a:path w="137160" h="10972800">
                  <a:moveTo>
                    <a:pt x="0" y="0"/>
                  </a:moveTo>
                  <a:lnTo>
                    <a:pt x="137160" y="0"/>
                  </a:lnTo>
                  <a:lnTo>
                    <a:pt x="13716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AutoShape 7">
            <a:extLst>
              <a:ext uri="{FF2B5EF4-FFF2-40B4-BE49-F238E27FC236}">
                <a16:creationId xmlns:a16="http://schemas.microsoft.com/office/drawing/2014/main" id="{283DB84A-6A3D-A8C7-6D0A-5A5BE2558C84}"/>
              </a:ext>
            </a:extLst>
          </p:cNvPr>
          <p:cNvSpPr/>
          <p:nvPr/>
        </p:nvSpPr>
        <p:spPr>
          <a:xfrm flipV="1">
            <a:off x="17121639" y="1132023"/>
            <a:ext cx="57150" cy="7203847"/>
          </a:xfrm>
          <a:prstGeom prst="line">
            <a:avLst/>
          </a:prstGeom>
          <a:ln w="114300" cap="flat">
            <a:solidFill>
              <a:srgbClr val="0D58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AA41CBF2-80DB-38BC-0D70-36F2A14952D4}"/>
              </a:ext>
            </a:extLst>
          </p:cNvPr>
          <p:cNvSpPr/>
          <p:nvPr/>
        </p:nvSpPr>
        <p:spPr>
          <a:xfrm flipH="1">
            <a:off x="979768" y="9258300"/>
            <a:ext cx="15021164" cy="0"/>
          </a:xfrm>
          <a:prstGeom prst="line">
            <a:avLst/>
          </a:prstGeom>
          <a:ln w="114300" cap="flat">
            <a:solidFill>
              <a:srgbClr val="0D58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AE6836E-9739-D59B-FF1D-BE66828D9AB9}"/>
              </a:ext>
            </a:extLst>
          </p:cNvPr>
          <p:cNvSpPr txBox="1"/>
          <p:nvPr/>
        </p:nvSpPr>
        <p:spPr>
          <a:xfrm>
            <a:off x="7023809" y="1220400"/>
            <a:ext cx="4468981" cy="5262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spc="-118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Protótipos</a:t>
            </a:r>
            <a:r>
              <a:rPr lang="en-US" sz="3200" b="1" spc="-118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de Interfaces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FC6B7AC-4B37-6B76-D1DA-25A1E26910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4000" y="1890000"/>
            <a:ext cx="13417200" cy="6866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3856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A50BE-07D0-BFD3-A2DA-ABCFA8CBD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DC699A4-AD64-6355-091B-E5339BD0D6DB}"/>
              </a:ext>
            </a:extLst>
          </p:cNvPr>
          <p:cNvSpPr/>
          <p:nvPr/>
        </p:nvSpPr>
        <p:spPr>
          <a:xfrm>
            <a:off x="16076215" y="8335870"/>
            <a:ext cx="1479340" cy="1479340"/>
          </a:xfrm>
          <a:custGeom>
            <a:avLst/>
            <a:gdLst/>
            <a:ahLst/>
            <a:cxnLst/>
            <a:rect l="l" t="t" r="r" b="b"/>
            <a:pathLst>
              <a:path w="1479340" h="1479340">
                <a:moveTo>
                  <a:pt x="0" y="0"/>
                </a:moveTo>
                <a:lnTo>
                  <a:pt x="1479340" y="0"/>
                </a:lnTo>
                <a:lnTo>
                  <a:pt x="1479340" y="1479340"/>
                </a:lnTo>
                <a:lnTo>
                  <a:pt x="0" y="1479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789158F-C2F5-493D-86A5-47A4B29E3EF0}"/>
              </a:ext>
            </a:extLst>
          </p:cNvPr>
          <p:cNvSpPr/>
          <p:nvPr/>
        </p:nvSpPr>
        <p:spPr>
          <a:xfrm>
            <a:off x="979768" y="1028700"/>
            <a:ext cx="102870" cy="8229600"/>
          </a:xfrm>
          <a:custGeom>
            <a:avLst/>
            <a:gdLst/>
            <a:ahLst/>
            <a:cxnLst/>
            <a:rect l="l" t="t" r="r" b="b"/>
            <a:pathLst>
              <a:path w="102870" h="8229600">
                <a:moveTo>
                  <a:pt x="0" y="0"/>
                </a:moveTo>
                <a:lnTo>
                  <a:pt x="102870" y="0"/>
                </a:lnTo>
                <a:lnTo>
                  <a:pt x="10287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86D810EA-FA8B-8E2C-BFAD-F4A650EED9F0}"/>
              </a:ext>
            </a:extLst>
          </p:cNvPr>
          <p:cNvGrpSpPr/>
          <p:nvPr/>
        </p:nvGrpSpPr>
        <p:grpSpPr>
          <a:xfrm>
            <a:off x="1028700" y="1028700"/>
            <a:ext cx="16207237" cy="102870"/>
            <a:chOff x="0" y="0"/>
            <a:chExt cx="21609650" cy="1371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60F5A04-FBD7-BD2B-4AC7-987702617420}"/>
                </a:ext>
              </a:extLst>
            </p:cNvPr>
            <p:cNvSpPr/>
            <p:nvPr/>
          </p:nvSpPr>
          <p:spPr>
            <a:xfrm rot="-5400000">
              <a:off x="5417820" y="-5417820"/>
              <a:ext cx="137160" cy="10972800"/>
            </a:xfrm>
            <a:custGeom>
              <a:avLst/>
              <a:gdLst/>
              <a:ahLst/>
              <a:cxnLst/>
              <a:rect l="l" t="t" r="r" b="b"/>
              <a:pathLst>
                <a:path w="137160" h="10972800">
                  <a:moveTo>
                    <a:pt x="0" y="0"/>
                  </a:moveTo>
                  <a:lnTo>
                    <a:pt x="137160" y="0"/>
                  </a:lnTo>
                  <a:lnTo>
                    <a:pt x="13716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D59EB81-9C2A-5833-FD91-DA5E27841898}"/>
                </a:ext>
              </a:extLst>
            </p:cNvPr>
            <p:cNvSpPr/>
            <p:nvPr/>
          </p:nvSpPr>
          <p:spPr>
            <a:xfrm rot="-5400000">
              <a:off x="16054670" y="-5417820"/>
              <a:ext cx="137160" cy="10972800"/>
            </a:xfrm>
            <a:custGeom>
              <a:avLst/>
              <a:gdLst/>
              <a:ahLst/>
              <a:cxnLst/>
              <a:rect l="l" t="t" r="r" b="b"/>
              <a:pathLst>
                <a:path w="137160" h="10972800">
                  <a:moveTo>
                    <a:pt x="0" y="0"/>
                  </a:moveTo>
                  <a:lnTo>
                    <a:pt x="137160" y="0"/>
                  </a:lnTo>
                  <a:lnTo>
                    <a:pt x="13716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AutoShape 7">
            <a:extLst>
              <a:ext uri="{FF2B5EF4-FFF2-40B4-BE49-F238E27FC236}">
                <a16:creationId xmlns:a16="http://schemas.microsoft.com/office/drawing/2014/main" id="{E67C848C-147C-B1DE-AEC0-D9E90D84B1E2}"/>
              </a:ext>
            </a:extLst>
          </p:cNvPr>
          <p:cNvSpPr/>
          <p:nvPr/>
        </p:nvSpPr>
        <p:spPr>
          <a:xfrm flipV="1">
            <a:off x="17121639" y="1132023"/>
            <a:ext cx="57150" cy="7203847"/>
          </a:xfrm>
          <a:prstGeom prst="line">
            <a:avLst/>
          </a:prstGeom>
          <a:ln w="114300" cap="flat">
            <a:solidFill>
              <a:srgbClr val="0D58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8FA0D93D-6C4D-19EB-F6E6-96B154EACB96}"/>
              </a:ext>
            </a:extLst>
          </p:cNvPr>
          <p:cNvSpPr/>
          <p:nvPr/>
        </p:nvSpPr>
        <p:spPr>
          <a:xfrm flipH="1">
            <a:off x="979768" y="9258300"/>
            <a:ext cx="15021164" cy="0"/>
          </a:xfrm>
          <a:prstGeom prst="line">
            <a:avLst/>
          </a:prstGeom>
          <a:ln w="114300" cap="flat">
            <a:solidFill>
              <a:srgbClr val="0D58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ABFD987-080E-F08D-35F3-F0F221B8FFD0}"/>
              </a:ext>
            </a:extLst>
          </p:cNvPr>
          <p:cNvSpPr txBox="1"/>
          <p:nvPr/>
        </p:nvSpPr>
        <p:spPr>
          <a:xfrm>
            <a:off x="7023809" y="1220400"/>
            <a:ext cx="4468981" cy="5262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spc="-118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Protótipos</a:t>
            </a:r>
            <a:r>
              <a:rPr lang="en-US" sz="3200" b="1" spc="-118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de Interfaces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9D3D2538-42FF-DAEF-ABEB-09EE3F82CB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4000" y="1890000"/>
            <a:ext cx="13417200" cy="7187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7287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76215" y="8335870"/>
            <a:ext cx="1479340" cy="1479340"/>
          </a:xfrm>
          <a:custGeom>
            <a:avLst/>
            <a:gdLst/>
            <a:ahLst/>
            <a:cxnLst/>
            <a:rect l="l" t="t" r="r" b="b"/>
            <a:pathLst>
              <a:path w="1479340" h="1479340">
                <a:moveTo>
                  <a:pt x="0" y="0"/>
                </a:moveTo>
                <a:lnTo>
                  <a:pt x="1479340" y="0"/>
                </a:lnTo>
                <a:lnTo>
                  <a:pt x="1479340" y="1479340"/>
                </a:lnTo>
                <a:lnTo>
                  <a:pt x="0" y="1479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979768" y="1028700"/>
            <a:ext cx="102870" cy="8229600"/>
          </a:xfrm>
          <a:custGeom>
            <a:avLst/>
            <a:gdLst/>
            <a:ahLst/>
            <a:cxnLst/>
            <a:rect l="l" t="t" r="r" b="b"/>
            <a:pathLst>
              <a:path w="102870" h="8229600">
                <a:moveTo>
                  <a:pt x="0" y="0"/>
                </a:moveTo>
                <a:lnTo>
                  <a:pt x="102870" y="0"/>
                </a:lnTo>
                <a:lnTo>
                  <a:pt x="10287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4" name="Group 4"/>
          <p:cNvGrpSpPr/>
          <p:nvPr/>
        </p:nvGrpSpPr>
        <p:grpSpPr>
          <a:xfrm>
            <a:off x="1028700" y="1028700"/>
            <a:ext cx="16207237" cy="102870"/>
            <a:chOff x="0" y="0"/>
            <a:chExt cx="21609650" cy="137160"/>
          </a:xfrm>
        </p:grpSpPr>
        <p:sp>
          <p:nvSpPr>
            <p:cNvPr id="5" name="Freeform 5"/>
            <p:cNvSpPr/>
            <p:nvPr/>
          </p:nvSpPr>
          <p:spPr>
            <a:xfrm rot="-5400000">
              <a:off x="5417820" y="-5417820"/>
              <a:ext cx="137160" cy="10972800"/>
            </a:xfrm>
            <a:custGeom>
              <a:avLst/>
              <a:gdLst/>
              <a:ahLst/>
              <a:cxnLst/>
              <a:rect l="l" t="t" r="r" b="b"/>
              <a:pathLst>
                <a:path w="137160" h="10972800">
                  <a:moveTo>
                    <a:pt x="0" y="0"/>
                  </a:moveTo>
                  <a:lnTo>
                    <a:pt x="137160" y="0"/>
                  </a:lnTo>
                  <a:lnTo>
                    <a:pt x="13716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Freeform 6"/>
            <p:cNvSpPr/>
            <p:nvPr/>
          </p:nvSpPr>
          <p:spPr>
            <a:xfrm rot="-5400000">
              <a:off x="16054670" y="-5417820"/>
              <a:ext cx="137160" cy="10972800"/>
            </a:xfrm>
            <a:custGeom>
              <a:avLst/>
              <a:gdLst/>
              <a:ahLst/>
              <a:cxnLst/>
              <a:rect l="l" t="t" r="r" b="b"/>
              <a:pathLst>
                <a:path w="137160" h="10972800">
                  <a:moveTo>
                    <a:pt x="0" y="0"/>
                  </a:moveTo>
                  <a:lnTo>
                    <a:pt x="137160" y="0"/>
                  </a:lnTo>
                  <a:lnTo>
                    <a:pt x="13716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AutoShape 7"/>
          <p:cNvSpPr/>
          <p:nvPr/>
        </p:nvSpPr>
        <p:spPr>
          <a:xfrm flipV="1">
            <a:off x="17121639" y="1132023"/>
            <a:ext cx="57150" cy="7203847"/>
          </a:xfrm>
          <a:prstGeom prst="line">
            <a:avLst/>
          </a:prstGeom>
          <a:ln w="114300" cap="flat">
            <a:solidFill>
              <a:srgbClr val="0D58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8" name="AutoShape 8"/>
          <p:cNvSpPr/>
          <p:nvPr/>
        </p:nvSpPr>
        <p:spPr>
          <a:xfrm flipH="1">
            <a:off x="979768" y="9258300"/>
            <a:ext cx="15021164" cy="0"/>
          </a:xfrm>
          <a:prstGeom prst="line">
            <a:avLst/>
          </a:prstGeom>
          <a:ln w="114300" cap="flat">
            <a:solidFill>
              <a:srgbClr val="0D58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Box 9"/>
          <p:cNvSpPr txBox="1"/>
          <p:nvPr/>
        </p:nvSpPr>
        <p:spPr>
          <a:xfrm>
            <a:off x="7902238" y="1219200"/>
            <a:ext cx="2772726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spc="-11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CONCLUSÃO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45914" y="3086100"/>
            <a:ext cx="15569971" cy="4500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spc="-1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 </a:t>
            </a:r>
            <a:r>
              <a:rPr lang="en-US" sz="3200" spc="-11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projeto</a:t>
            </a:r>
            <a:r>
              <a:rPr lang="en-US" sz="3200" spc="-1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spc="-11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demonstrou</a:t>
            </a:r>
            <a:r>
              <a:rPr lang="en-US" sz="3200" spc="-1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a </a:t>
            </a:r>
            <a:r>
              <a:rPr lang="en-US" sz="3200" spc="-11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importância</a:t>
            </a:r>
            <a:r>
              <a:rPr lang="en-US" sz="3200" spc="-1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da </a:t>
            </a:r>
            <a:r>
              <a:rPr lang="en-US" sz="3200" spc="-11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tecnologia</a:t>
            </a:r>
            <a:r>
              <a:rPr lang="en-US" sz="3200" spc="-1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no </a:t>
            </a:r>
            <a:r>
              <a:rPr lang="en-US" sz="3200" spc="-11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apoio</a:t>
            </a:r>
            <a:r>
              <a:rPr lang="en-US" sz="3200" spc="-1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à </a:t>
            </a:r>
            <a:r>
              <a:rPr lang="en-US" sz="3200" spc="-11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gestão</a:t>
            </a:r>
            <a:r>
              <a:rPr lang="en-US" sz="3200" spc="-1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de </a:t>
            </a:r>
            <a:r>
              <a:rPr lang="en-US" sz="3200" spc="-11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doações</a:t>
            </a:r>
            <a:r>
              <a:rPr lang="en-US" sz="3200" spc="-1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da ABOS, </a:t>
            </a:r>
            <a:r>
              <a:rPr lang="en-US" sz="3200" spc="-11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buscando</a:t>
            </a:r>
            <a:r>
              <a:rPr lang="en-US" sz="3200" spc="-1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spc="-11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solucionar</a:t>
            </a:r>
            <a:r>
              <a:rPr lang="en-US" sz="3200" spc="-1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spc="-11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problemas</a:t>
            </a:r>
            <a:r>
              <a:rPr lang="en-US" sz="3200" spc="-1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spc="-11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como</a:t>
            </a:r>
            <a:r>
              <a:rPr lang="en-US" sz="3200" spc="-1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spc="-11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falta</a:t>
            </a:r>
            <a:r>
              <a:rPr lang="en-US" sz="3200" spc="-1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de </a:t>
            </a:r>
            <a:r>
              <a:rPr lang="en-US" sz="3200" spc="-11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organização</a:t>
            </a:r>
            <a:r>
              <a:rPr lang="en-US" sz="3200" spc="-1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3200" spc="-11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controle</a:t>
            </a:r>
            <a:r>
              <a:rPr lang="en-US" sz="3200" spc="-1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de estoque e </a:t>
            </a:r>
            <a:r>
              <a:rPr lang="en-US" sz="3200" spc="-11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desperdício</a:t>
            </a:r>
            <a:r>
              <a:rPr lang="en-US" sz="3200" spc="-1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de </a:t>
            </a:r>
            <a:r>
              <a:rPr lang="en-US" sz="3200" spc="-11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alimentos</a:t>
            </a:r>
            <a:r>
              <a:rPr lang="en-US" sz="3200" spc="-1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 A </a:t>
            </a:r>
            <a:r>
              <a:rPr lang="en-US" sz="3200" spc="-11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proposta</a:t>
            </a:r>
            <a:r>
              <a:rPr lang="en-US" sz="3200" spc="-1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de um </a:t>
            </a:r>
            <a:r>
              <a:rPr lang="en-US" sz="3200" spc="-11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sistema</a:t>
            </a:r>
            <a:r>
              <a:rPr lang="en-US" sz="3200" spc="-1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web se </a:t>
            </a:r>
            <a:r>
              <a:rPr lang="en-US" sz="3200" spc="-11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tornou</a:t>
            </a:r>
            <a:r>
              <a:rPr lang="en-US" sz="3200" spc="-1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spc="-11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viável</a:t>
            </a:r>
            <a:r>
              <a:rPr lang="en-US" sz="3200" spc="-1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e </a:t>
            </a:r>
            <a:r>
              <a:rPr lang="en-US" sz="3200" spc="-11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pode</a:t>
            </a:r>
            <a:r>
              <a:rPr lang="en-US" sz="3200" spc="-1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spc="-11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trazer</a:t>
            </a:r>
            <a:r>
              <a:rPr lang="en-US" sz="3200" spc="-1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spc="-11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mais</a:t>
            </a:r>
            <a:r>
              <a:rPr lang="en-US" sz="3200" spc="-1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spc="-11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eficiência</a:t>
            </a:r>
            <a:r>
              <a:rPr lang="en-US" sz="3200" spc="-1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3200" spc="-11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transparência</a:t>
            </a:r>
            <a:r>
              <a:rPr lang="en-US" sz="3200" spc="-1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e </a:t>
            </a:r>
            <a:r>
              <a:rPr lang="en-US" sz="3200" spc="-11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agilidade</a:t>
            </a:r>
            <a:r>
              <a:rPr lang="en-US" sz="3200" spc="-1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spc="-11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aos</a:t>
            </a:r>
            <a:r>
              <a:rPr lang="en-US" sz="3200" spc="-1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spc="-11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processos</a:t>
            </a:r>
            <a:r>
              <a:rPr lang="en-US" sz="3200" spc="-1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da </a:t>
            </a:r>
            <a:r>
              <a:rPr lang="en-US" sz="3200" spc="-11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empresa</a:t>
            </a:r>
            <a:r>
              <a:rPr lang="en-US" sz="3200" spc="-1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spc="-1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Entre as </a:t>
            </a:r>
            <a:r>
              <a:rPr lang="en-US" sz="3200" spc="-11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dificuldades</a:t>
            </a:r>
            <a:r>
              <a:rPr lang="en-US" sz="3200" spc="-1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spc="-11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encontradas</a:t>
            </a:r>
            <a:r>
              <a:rPr lang="en-US" sz="3200" spc="-1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3200" spc="-11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destacam</a:t>
            </a:r>
            <a:r>
              <a:rPr lang="en-US" sz="3200" spc="-1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-se o </a:t>
            </a:r>
            <a:r>
              <a:rPr lang="en-US" sz="3200" spc="-11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levantamento</a:t>
            </a:r>
            <a:r>
              <a:rPr lang="en-US" sz="3200" spc="-1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das </a:t>
            </a:r>
            <a:r>
              <a:rPr lang="en-US" sz="3200" spc="-11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necessidades</a:t>
            </a:r>
            <a:r>
              <a:rPr lang="en-US" sz="3200" spc="-1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da </a:t>
            </a:r>
            <a:r>
              <a:rPr lang="en-US" sz="3200" spc="-11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associação</a:t>
            </a:r>
            <a:r>
              <a:rPr lang="en-US" sz="3200" spc="-1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e a </a:t>
            </a:r>
            <a:r>
              <a:rPr lang="en-US" sz="3200" spc="-11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adaptação</a:t>
            </a:r>
            <a:r>
              <a:rPr lang="en-US" sz="3200" spc="-1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da </a:t>
            </a:r>
            <a:r>
              <a:rPr lang="en-US" sz="3200" spc="-11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solução</a:t>
            </a:r>
            <a:r>
              <a:rPr lang="en-US" sz="3200" spc="-1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à </a:t>
            </a:r>
            <a:r>
              <a:rPr lang="en-US" sz="3200" spc="-11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realidade</a:t>
            </a:r>
            <a:r>
              <a:rPr lang="en-US" sz="3200" spc="-1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da ABOS. Como </a:t>
            </a:r>
            <a:r>
              <a:rPr lang="en-US" sz="3200" spc="-11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perspectivas</a:t>
            </a:r>
            <a:r>
              <a:rPr lang="en-US" sz="3200" spc="-1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spc="-11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futuras</a:t>
            </a:r>
            <a:r>
              <a:rPr lang="en-US" sz="3200" spc="-1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3200" spc="-11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acessibilidade</a:t>
            </a:r>
            <a:r>
              <a:rPr lang="en-US" sz="3200" spc="-1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e a </a:t>
            </a:r>
            <a:r>
              <a:rPr lang="en-US" sz="3200" spc="-11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ausência</a:t>
            </a:r>
            <a:r>
              <a:rPr lang="en-US" sz="3200" spc="-1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de </a:t>
            </a:r>
            <a:r>
              <a:rPr lang="en-US" sz="3200" spc="-11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controle</a:t>
            </a:r>
            <a:r>
              <a:rPr lang="en-US" sz="3200" spc="-1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spc="-11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em</a:t>
            </a:r>
            <a:r>
              <a:rPr lang="en-US" sz="3200" spc="-1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spc="-11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algumas</a:t>
            </a:r>
            <a:r>
              <a:rPr lang="en-US" sz="3200" spc="-11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partes dos </a:t>
            </a:r>
            <a:r>
              <a:rPr lang="en-US" sz="3200" spc="-11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processos</a:t>
            </a:r>
            <a:endParaRPr lang="en-US" sz="3200" spc="-118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ctr">
              <a:lnSpc>
                <a:spcPts val="4480"/>
              </a:lnSpc>
              <a:spcBef>
                <a:spcPct val="0"/>
              </a:spcBef>
            </a:pPr>
            <a:endParaRPr lang="en-US" sz="3200" spc="-118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737</Words>
  <Application>Microsoft Office PowerPoint</Application>
  <PresentationFormat>Personalizar</PresentationFormat>
  <Paragraphs>42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7" baseType="lpstr">
      <vt:lpstr>Arial</vt:lpstr>
      <vt:lpstr>Arimo Bold</vt:lpstr>
      <vt:lpstr>Poppins</vt:lpstr>
      <vt:lpstr>Arimo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Trabalho_fatec</dc:title>
  <cp:lastModifiedBy>Leonardo Medolago</cp:lastModifiedBy>
  <cp:revision>2</cp:revision>
  <dcterms:created xsi:type="dcterms:W3CDTF">2006-08-16T00:00:00Z</dcterms:created>
  <dcterms:modified xsi:type="dcterms:W3CDTF">2026-05-20T23:08:40Z</dcterms:modified>
  <dc:identifier>DAHKJnr7bhk</dc:identifier>
</cp:coreProperties>
</file>